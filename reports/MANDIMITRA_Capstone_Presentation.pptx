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341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jury members, guide, and fellow students. We are students from the AIML department presenting our capstone project MANDIMITRA. MANDIMITRA means 'Market Friend' in Marathi. It is a comprehensive agricultural market intelligence and veterinary services platform built specifically for Maharashtra. This project falls under the national thrust areas of Digitization, Agriculture modernization, and Rural Development. Let me introduce our team...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Maharashtra has over 1.5 crore farmers across 36 districts. Despite having 400+ APMC mandis, farmers lose 15-25% revenue annually due to price information asymmetry - they don't know the best time or market to sell. Additionally, rural Maharashtra has a critical shortage of veterinary doctors - roughly 1 per 50,000 livestock. No existing platform combines agricultural market intelligence WITH veterinary services. E-NAM is pan-India with no ML. MSAMB is static data only. This is the gap MANDIMITRA fills. As the DFD shows, our system interacts with farmers, doctors, admins, and external data sources like Data.gov.in and NASA POWER.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conducted a thorough literature survey of 6 existing platforms and 7 key research papers. As the comparison table shows, NO existing platform provides all four capabilities: ML price forecasting, crop risk advisory, veterinary services, AND Maharashtra-specific focus. Our ML design was heavily influenced by recent </a:t>
            </a:r>
            <a:r>
              <a:rPr dirty="0" err="1"/>
              <a:t>NeurIPS</a:t>
            </a:r>
            <a:r>
              <a:rPr dirty="0"/>
              <a:t> and ICML papers. From </a:t>
            </a:r>
            <a:r>
              <a:rPr dirty="0" err="1"/>
              <a:t>NeuralCrop</a:t>
            </a:r>
            <a:r>
              <a:rPr dirty="0"/>
              <a:t> 2025, we adopted physics-informed features like GDD and VPD. From MT-CYP-Net, we used focal-loss inspired class weighting for handling imbalanced risk classes. The comparative chart shows MANDIMITRA achieves R-squared 0.93 for price prediction and 87.4% crop risk accuracy - both competitive with or exceeding published results.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00" dirty="0"/>
              <a:t>The problem is clear: farmers lose money because they don't have access to reliable price intelligence, and they lose livestock because they can't find verified vets quickly. We defined 6 specific, measurable objectives. Objective 1 is the data foundation - processing 6.1 million mandi records. Objectives 2-4 are the ML intelligence layer. Objectives 5-6 are the user-facing application. Each objective has clear success metrics that we will show in the Results slide.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scope of MANDIMITRA is strictly limited to Maharashtra state. We enforce this as a hard constraint in the data pipeline using the special 'filters[state.keyword]' parameter in the Data.gov.in API. This ensures zero contamination from other states. We cover all 36 districts with 400+ mandis. We support 3 user roles with distinct dashboards. The current version is a web-only application. We've identified a clear Phase 2 roadmap including React Native mobile app and Marathi language support for wider adoption.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analyzed feasibility across 4 dimensions. Technically, we're using proven, mature frameworks - LightGBM is a NeurIPS-published algorithm, and all data sources are freely available through government open data. Financially, the entire platform can run on free-tier services during development, and only ~Rs 6,800/year for production. Operationally, our target users already have smartphones, and the UI is designed to be intuitive. Schedule-wise, we completed all 4 phases within 13 weeks as planned.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followed Agile methodology with 4 phases over 13 weeks. The pipeline has 6 stages. Stage 1 ingests data from 4 sources. The critical detail is using 'filters[state.keyword]' for exact Maharashtra matching in the AGMARKNET API. Stage 2 validates with Pandera schemas. Stage 3 removes 700K duplicates using a 7-column natural key in DuckDB. Stage 4 is where we add physics-informed features from the NeuralCrop paper. Stage 5 trains our LightGBM models with 5-fold cross-validation. Stage 6 serves predictions through FastAPI REST endpoints consumed by the Next.js frontend.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MANDIMITRA uses a three-tier architecture. The Presentation Layer is Next.js 14 with server-side rendering, Tailwind CSS, and Framer Motion animations. The Application Layer has FastAPI with 2 main modules: auth.py and vet.py with 15 endpoints. ML models load from .joblib files. The Data Layer uses a dual-database strategy: Supabase PostgreSQL for transactional data and DuckDB for OLAP analytics over 6.1M records. The use case diagram shows 12 use cases across 3 actors: Farmers have 6, including SOS broadcast. Doctors have 4, including emergency acceptance. Admins have 2 for oversight.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the core working processes of our prototype. TOP LEFT: The ML pipeline shows our process from raw data through feature engineering (GDD, VPD, DSI), LightGBM training with 5-fold CV, to conformal calibration for uncertainty. TOP RIGHT: The veterinary service swimlane shows the complete flow across farmer, system, doctor, and admin lanes - from registration through verification, booking, and emergency SOS handling with first-come-first-serve acceptance. BOTTOM: The ER diagram shows 3 PostgreSQL tables (profiles, bookings, emergency_requests). The booking sequence shows the full API interaction. And the deduplication flow shows how we reduce 6.8M raw records to 6.1M using a 7-column natural key in DuckDB.</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our results. The Crop Risk Advisor achieves 87.4% overall accuracy. The key achievement is improving High Risk recall from 34.9% to 45.9% using focal-loss inspired weights (1:10:50). The GDD physics feature ranked 9th in importance, validating the NeuralCrop approach. The Price Intelligence Engine achieves R-squared 0.93 for 1-day forecasts. Even at 14-day horizon, R-squared stays above 0.86. Conformal intervals give farmers calibrated uncertainty at 80/90/95% confidence. We process 6.1M+ records covering 35 of 36 districts. All 15 vet API endpoints pass testing. API response times are under 500ms. Practical applications include: farmers can time their sales better, instantly find verified vets, and send one-tap SOS in emergencies.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MANDIMITRA successfully achieves all 6 objectives. We built a complete end-to-end system from data pipeline to web application. Our 3 key technical contributions are: applying physics-informed ML features to Maharashtra agriculture for the first time, using conformal prediction for farmer-facing price uncertainty, and creating the first unified agricultural + veterinary platform for MH. For future work, we plan to build a React Native mobile app and add Marathi language support, which are critical for actual deployment in rural Maharashtra. We also plan to explore transformer-based models like iTransformer for improved long-horizon price forecasting accuracy. The deployment architecture shows how the current system can be deployed using Vercel and a VPS for under Rs 7000 per year.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20 references. Key highlights: References 5-10 are the NeurIPS/ICML/arXiv research papers that directly influenced our ML model design. References 1-4 are our data sources. References 11-16 are the core technology frameworks we used. All references are cited in the full project report.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Thank you for your attention. We're happy to answer any questions about the data pipeline, ML models, the web application, or the veterinary service module. We can also demonstrate the live prototype if needed.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5603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ownload.jpg"/>
          <p:cNvPicPr>
            <a:picLocks noChangeAspect="1"/>
          </p:cNvPicPr>
          <p:nvPr/>
        </p:nvPicPr>
        <p:blipFill>
          <a:blip r:embed="rId3"/>
          <a:stretch>
            <a:fillRect/>
          </a:stretch>
        </p:blipFill>
        <p:spPr>
          <a:xfrm>
            <a:off x="548640" y="320040"/>
            <a:ext cx="1463040" cy="1463040"/>
          </a:xfrm>
          <a:prstGeom prst="rect">
            <a:avLst/>
          </a:prstGeom>
        </p:spPr>
      </p:pic>
      <p:sp>
        <p:nvSpPr>
          <p:cNvPr id="5" name="TextBox 4"/>
          <p:cNvSpPr txBox="1"/>
          <p:nvPr/>
        </p:nvSpPr>
        <p:spPr>
          <a:xfrm>
            <a:off x="2286000" y="228600"/>
            <a:ext cx="9144000" cy="369332"/>
          </a:xfrm>
          <a:prstGeom prst="rect">
            <a:avLst/>
          </a:prstGeom>
          <a:noFill/>
        </p:spPr>
        <p:txBody>
          <a:bodyPr wrap="square">
            <a:spAutoFit/>
          </a:bodyPr>
          <a:lstStyle/>
          <a:p>
            <a:pPr>
              <a:defRPr sz="1800" b="1" i="0">
                <a:solidFill>
                  <a:srgbClr val="FFFFFF"/>
                </a:solidFill>
                <a:latin typeface="Calibri"/>
              </a:defRPr>
            </a:pPr>
            <a:r>
              <a:rPr dirty="0"/>
              <a:t>K.E. Society's </a:t>
            </a:r>
            <a:r>
              <a:rPr dirty="0" err="1"/>
              <a:t>Rajarambapu</a:t>
            </a:r>
            <a:r>
              <a:rPr dirty="0"/>
              <a:t> Institute of Technology (Polytechnic)</a:t>
            </a:r>
            <a:r>
              <a:rPr lang="en-IN" dirty="0"/>
              <a:t> </a:t>
            </a:r>
            <a:r>
              <a:rPr lang="en-IN" b="1" dirty="0">
                <a:solidFill>
                  <a:schemeClr val="bg1"/>
                </a:solidFill>
              </a:rPr>
              <a:t>Lohegaon, Pune - 47</a:t>
            </a:r>
            <a:endParaRPr dirty="0"/>
          </a:p>
        </p:txBody>
      </p:sp>
      <p:sp>
        <p:nvSpPr>
          <p:cNvPr id="7" name="TextBox 6"/>
          <p:cNvSpPr txBox="1"/>
          <p:nvPr/>
        </p:nvSpPr>
        <p:spPr>
          <a:xfrm>
            <a:off x="2286000" y="914400"/>
            <a:ext cx="9144000" cy="307777"/>
          </a:xfrm>
          <a:prstGeom prst="rect">
            <a:avLst/>
          </a:prstGeom>
          <a:noFill/>
        </p:spPr>
        <p:txBody>
          <a:bodyPr wrap="square">
            <a:spAutoFit/>
          </a:bodyPr>
          <a:lstStyle/>
          <a:p>
            <a:pPr algn="l">
              <a:defRPr sz="1200" b="0" i="0">
                <a:solidFill>
                  <a:srgbClr val="A5D6A7"/>
                </a:solidFill>
                <a:latin typeface="Calibri"/>
              </a:defRPr>
            </a:pPr>
            <a:r>
              <a:rPr sz="1400" b="1" dirty="0"/>
              <a:t>Department of Artificial Intelligence and Machine Learning  |  Course Code: 316004</a:t>
            </a:r>
          </a:p>
        </p:txBody>
      </p:sp>
      <p:sp>
        <p:nvSpPr>
          <p:cNvPr id="8" name="TextBox 7"/>
          <p:cNvSpPr txBox="1"/>
          <p:nvPr/>
        </p:nvSpPr>
        <p:spPr>
          <a:xfrm>
            <a:off x="2286000" y="1325880"/>
            <a:ext cx="9144000" cy="548640"/>
          </a:xfrm>
          <a:prstGeom prst="rect">
            <a:avLst/>
          </a:prstGeom>
          <a:noFill/>
        </p:spPr>
        <p:txBody>
          <a:bodyPr wrap="square">
            <a:spAutoFit/>
          </a:bodyPr>
          <a:lstStyle/>
          <a:p>
            <a:pPr algn="l">
              <a:defRPr sz="3600" b="1" i="0">
                <a:solidFill>
                  <a:srgbClr val="FFFFFF"/>
                </a:solidFill>
                <a:latin typeface="Calibri"/>
              </a:defRPr>
            </a:pPr>
            <a:r>
              <a:t>MANDIMITRA</a:t>
            </a:r>
          </a:p>
        </p:txBody>
      </p:sp>
      <p:sp>
        <p:nvSpPr>
          <p:cNvPr id="9" name="TextBox 8"/>
          <p:cNvSpPr txBox="1"/>
          <p:nvPr/>
        </p:nvSpPr>
        <p:spPr>
          <a:xfrm>
            <a:off x="2286000" y="1828800"/>
            <a:ext cx="9144000" cy="640080"/>
          </a:xfrm>
          <a:prstGeom prst="rect">
            <a:avLst/>
          </a:prstGeom>
          <a:noFill/>
        </p:spPr>
        <p:txBody>
          <a:bodyPr wrap="square">
            <a:spAutoFit/>
          </a:bodyPr>
          <a:lstStyle/>
          <a:p>
            <a:pPr algn="l">
              <a:defRPr sz="1600" b="0" i="0">
                <a:solidFill>
                  <a:srgbClr val="A5D6A7"/>
                </a:solidFill>
                <a:latin typeface="Calibri"/>
              </a:defRPr>
            </a:pPr>
            <a:r>
              <a:t>Maharashtra Agricultural Market Intelligence</a:t>
            </a:r>
            <a:br/>
            <a:r>
              <a:t>&amp; Veterinary Services Platform</a:t>
            </a:r>
          </a:p>
        </p:txBody>
      </p:sp>
      <p:sp>
        <p:nvSpPr>
          <p:cNvPr id="10" name="TextBox 9"/>
          <p:cNvSpPr txBox="1"/>
          <p:nvPr/>
        </p:nvSpPr>
        <p:spPr>
          <a:xfrm>
            <a:off x="548640" y="2926080"/>
            <a:ext cx="4572000" cy="320040"/>
          </a:xfrm>
          <a:prstGeom prst="rect">
            <a:avLst/>
          </a:prstGeom>
          <a:noFill/>
        </p:spPr>
        <p:txBody>
          <a:bodyPr wrap="square">
            <a:spAutoFit/>
          </a:bodyPr>
          <a:lstStyle/>
          <a:p>
            <a:pPr algn="l">
              <a:defRPr sz="1100" b="1" i="0">
                <a:solidFill>
                  <a:srgbClr val="666666"/>
                </a:solidFill>
                <a:latin typeface="Calibri"/>
              </a:defRPr>
            </a:pPr>
            <a:r>
              <a:t>SUBMITTED BY</a:t>
            </a:r>
          </a:p>
        </p:txBody>
      </p:sp>
      <p:sp>
        <p:nvSpPr>
          <p:cNvPr id="11" name="TextBox 10"/>
          <p:cNvSpPr txBox="1"/>
          <p:nvPr/>
        </p:nvSpPr>
        <p:spPr>
          <a:xfrm>
            <a:off x="548640" y="3291840"/>
            <a:ext cx="4572000" cy="320040"/>
          </a:xfrm>
          <a:prstGeom prst="rect">
            <a:avLst/>
          </a:prstGeom>
          <a:noFill/>
        </p:spPr>
        <p:txBody>
          <a:bodyPr wrap="square">
            <a:spAutoFit/>
          </a:bodyPr>
          <a:lstStyle/>
          <a:p>
            <a:pPr algn="l">
              <a:defRPr sz="1400" b="0" i="0">
                <a:solidFill>
                  <a:srgbClr val="333333"/>
                </a:solidFill>
                <a:latin typeface="Calibri"/>
              </a:defRPr>
            </a:pPr>
            <a:r>
              <a:t>Avishkar Borate  (Roll No. 01)</a:t>
            </a:r>
          </a:p>
        </p:txBody>
      </p:sp>
      <p:sp>
        <p:nvSpPr>
          <p:cNvPr id="12" name="TextBox 11"/>
          <p:cNvSpPr txBox="1"/>
          <p:nvPr/>
        </p:nvSpPr>
        <p:spPr>
          <a:xfrm>
            <a:off x="548640" y="3611880"/>
            <a:ext cx="4572000" cy="320040"/>
          </a:xfrm>
          <a:prstGeom prst="rect">
            <a:avLst/>
          </a:prstGeom>
          <a:noFill/>
        </p:spPr>
        <p:txBody>
          <a:bodyPr wrap="square">
            <a:spAutoFit/>
          </a:bodyPr>
          <a:lstStyle/>
          <a:p>
            <a:pPr algn="l">
              <a:defRPr sz="1400" b="0" i="0">
                <a:solidFill>
                  <a:srgbClr val="333333"/>
                </a:solidFill>
                <a:latin typeface="Calibri"/>
              </a:defRPr>
            </a:pPr>
            <a:r>
              <a:t>Amol Salunke  (Roll No. 02)</a:t>
            </a:r>
          </a:p>
        </p:txBody>
      </p:sp>
      <p:sp>
        <p:nvSpPr>
          <p:cNvPr id="13" name="TextBox 12"/>
          <p:cNvSpPr txBox="1"/>
          <p:nvPr/>
        </p:nvSpPr>
        <p:spPr>
          <a:xfrm>
            <a:off x="548640" y="3931920"/>
            <a:ext cx="4572000" cy="320040"/>
          </a:xfrm>
          <a:prstGeom prst="rect">
            <a:avLst/>
          </a:prstGeom>
          <a:noFill/>
        </p:spPr>
        <p:txBody>
          <a:bodyPr wrap="square">
            <a:spAutoFit/>
          </a:bodyPr>
          <a:lstStyle/>
          <a:p>
            <a:pPr algn="l">
              <a:defRPr sz="1400" b="0" i="0">
                <a:solidFill>
                  <a:srgbClr val="333333"/>
                </a:solidFill>
                <a:latin typeface="Calibri"/>
              </a:defRPr>
            </a:pPr>
            <a:r>
              <a:t>Pruthviraj Hippirkar  (Roll No. 03)</a:t>
            </a:r>
          </a:p>
        </p:txBody>
      </p:sp>
      <p:sp>
        <p:nvSpPr>
          <p:cNvPr id="14" name="TextBox 13"/>
          <p:cNvSpPr txBox="1"/>
          <p:nvPr/>
        </p:nvSpPr>
        <p:spPr>
          <a:xfrm>
            <a:off x="548640" y="4251959"/>
            <a:ext cx="4572000" cy="320040"/>
          </a:xfrm>
          <a:prstGeom prst="rect">
            <a:avLst/>
          </a:prstGeom>
          <a:noFill/>
        </p:spPr>
        <p:txBody>
          <a:bodyPr wrap="square">
            <a:spAutoFit/>
          </a:bodyPr>
          <a:lstStyle/>
          <a:p>
            <a:pPr algn="l">
              <a:defRPr sz="1400" b="0" i="0">
                <a:solidFill>
                  <a:srgbClr val="333333"/>
                </a:solidFill>
                <a:latin typeface="Calibri"/>
              </a:defRPr>
            </a:pPr>
            <a:r>
              <a:t>Krushna Mane  (Roll No. 04)</a:t>
            </a:r>
          </a:p>
        </p:txBody>
      </p:sp>
      <p:sp>
        <p:nvSpPr>
          <p:cNvPr id="15" name="TextBox 14"/>
          <p:cNvSpPr txBox="1"/>
          <p:nvPr/>
        </p:nvSpPr>
        <p:spPr>
          <a:xfrm>
            <a:off x="6858000" y="2926080"/>
            <a:ext cx="4572000" cy="320040"/>
          </a:xfrm>
          <a:prstGeom prst="rect">
            <a:avLst/>
          </a:prstGeom>
          <a:noFill/>
        </p:spPr>
        <p:txBody>
          <a:bodyPr wrap="square">
            <a:spAutoFit/>
          </a:bodyPr>
          <a:lstStyle/>
          <a:p>
            <a:pPr algn="l">
              <a:defRPr sz="1100" b="1" i="0">
                <a:solidFill>
                  <a:srgbClr val="666666"/>
                </a:solidFill>
                <a:latin typeface="Calibri"/>
              </a:defRPr>
            </a:pPr>
            <a:r>
              <a:t>UNDER THE GUIDANCE OF</a:t>
            </a:r>
          </a:p>
        </p:txBody>
      </p:sp>
      <p:sp>
        <p:nvSpPr>
          <p:cNvPr id="16" name="TextBox 15"/>
          <p:cNvSpPr txBox="1"/>
          <p:nvPr/>
        </p:nvSpPr>
        <p:spPr>
          <a:xfrm>
            <a:off x="6858000" y="3291840"/>
            <a:ext cx="4572000" cy="320040"/>
          </a:xfrm>
          <a:prstGeom prst="rect">
            <a:avLst/>
          </a:prstGeom>
          <a:noFill/>
        </p:spPr>
        <p:txBody>
          <a:bodyPr wrap="square">
            <a:spAutoFit/>
          </a:bodyPr>
          <a:lstStyle/>
          <a:p>
            <a:pPr algn="l">
              <a:defRPr sz="1600" b="1" i="0">
                <a:solidFill>
                  <a:srgbClr val="2E7D32"/>
                </a:solidFill>
                <a:latin typeface="Calibri"/>
              </a:defRPr>
            </a:pPr>
            <a:r>
              <a:t>Prof. Mayur Gund</a:t>
            </a:r>
          </a:p>
        </p:txBody>
      </p:sp>
      <p:sp>
        <p:nvSpPr>
          <p:cNvPr id="17" name="TextBox 16"/>
          <p:cNvSpPr txBox="1"/>
          <p:nvPr/>
        </p:nvSpPr>
        <p:spPr>
          <a:xfrm>
            <a:off x="6858000" y="3657600"/>
            <a:ext cx="4572000" cy="320040"/>
          </a:xfrm>
          <a:prstGeom prst="rect">
            <a:avLst/>
          </a:prstGeom>
          <a:noFill/>
        </p:spPr>
        <p:txBody>
          <a:bodyPr wrap="square">
            <a:spAutoFit/>
          </a:bodyPr>
          <a:lstStyle/>
          <a:p>
            <a:pPr algn="l">
              <a:defRPr sz="1200" b="0" i="0">
                <a:solidFill>
                  <a:srgbClr val="333333"/>
                </a:solidFill>
                <a:latin typeface="Calibri"/>
              </a:defRPr>
            </a:pPr>
            <a:r>
              <a:t>HOD: Prof. Vikram Saste</a:t>
            </a:r>
          </a:p>
        </p:txBody>
      </p:sp>
      <p:sp>
        <p:nvSpPr>
          <p:cNvPr id="18" name="TextBox 17"/>
          <p:cNvSpPr txBox="1"/>
          <p:nvPr/>
        </p:nvSpPr>
        <p:spPr>
          <a:xfrm>
            <a:off x="6858000" y="3977639"/>
            <a:ext cx="4572000" cy="320040"/>
          </a:xfrm>
          <a:prstGeom prst="rect">
            <a:avLst/>
          </a:prstGeom>
          <a:noFill/>
        </p:spPr>
        <p:txBody>
          <a:bodyPr wrap="square">
            <a:spAutoFit/>
          </a:bodyPr>
          <a:lstStyle/>
          <a:p>
            <a:pPr algn="l">
              <a:defRPr sz="1200" b="0" i="0">
                <a:solidFill>
                  <a:srgbClr val="333333"/>
                </a:solidFill>
                <a:latin typeface="Calibri"/>
              </a:defRPr>
            </a:pPr>
            <a:r>
              <a:t>Principal: Dr. Kashinath Munde</a:t>
            </a:r>
          </a:p>
        </p:txBody>
      </p:sp>
      <p:sp>
        <p:nvSpPr>
          <p:cNvPr id="19" name="TextBox 18"/>
          <p:cNvSpPr txBox="1"/>
          <p:nvPr/>
        </p:nvSpPr>
        <p:spPr>
          <a:xfrm>
            <a:off x="6858000" y="4480560"/>
            <a:ext cx="4572000" cy="320040"/>
          </a:xfrm>
          <a:prstGeom prst="rect">
            <a:avLst/>
          </a:prstGeom>
          <a:noFill/>
        </p:spPr>
        <p:txBody>
          <a:bodyPr wrap="square">
            <a:spAutoFit/>
          </a:bodyPr>
          <a:lstStyle/>
          <a:p>
            <a:pPr algn="l">
              <a:defRPr sz="1200" b="1" i="0">
                <a:solidFill>
                  <a:srgbClr val="1565C0"/>
                </a:solidFill>
                <a:latin typeface="Calibri"/>
              </a:defRPr>
            </a:pPr>
            <a:r>
              <a:t>Academic Year: 2025-2026</a:t>
            </a:r>
          </a:p>
        </p:txBody>
      </p:sp>
      <p:sp>
        <p:nvSpPr>
          <p:cNvPr id="20" name="Rounded Rectangle 19"/>
          <p:cNvSpPr/>
          <p:nvPr/>
        </p:nvSpPr>
        <p:spPr>
          <a:xfrm>
            <a:off x="548640" y="5029200"/>
            <a:ext cx="4114800" cy="64008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5074920"/>
            <a:ext cx="3931920" cy="548640"/>
          </a:xfrm>
          <a:prstGeom prst="rect">
            <a:avLst/>
          </a:prstGeom>
          <a:noFill/>
        </p:spPr>
        <p:txBody>
          <a:bodyPr wrap="square">
            <a:spAutoFit/>
          </a:bodyPr>
          <a:lstStyle/>
          <a:p>
            <a:pPr algn="ctr">
              <a:defRPr sz="1100" b="1" i="0">
                <a:solidFill>
                  <a:srgbClr val="2E7D32"/>
                </a:solidFill>
                <a:latin typeface="Calibri"/>
              </a:defRPr>
            </a:pPr>
            <a:r>
              <a:t>National Thrust: Digitization | Agriculture | Rural Development</a:t>
            </a:r>
          </a:p>
        </p:txBody>
      </p:sp>
      <p:sp>
        <p:nvSpPr>
          <p:cNvPr id="22" name="Rectangle 21"/>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6537960"/>
            <a:ext cx="10972800" cy="320040"/>
          </a:xfrm>
          <a:prstGeom prst="rect">
            <a:avLst/>
          </a:prstGeom>
          <a:noFill/>
        </p:spPr>
        <p:txBody>
          <a:bodyPr wrap="square">
            <a:spAutoFit/>
          </a:bodyPr>
          <a:lstStyle/>
          <a:p>
            <a:pPr algn="ctr">
              <a:defRPr sz="900" b="0" i="0">
                <a:solidFill>
                  <a:srgbClr val="666666"/>
                </a:solidFill>
                <a:latin typeface="Calibri"/>
              </a:defRPr>
            </a:pPr>
            <a:r>
              <a:t>Capstone Project Report  |  Diploma in AI &amp; ML  |  MSBTE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Introduction</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2/13</a:t>
            </a:r>
          </a:p>
        </p:txBody>
      </p:sp>
      <p:sp>
        <p:nvSpPr>
          <p:cNvPr id="8" name="TextBox 7"/>
          <p:cNvSpPr txBox="1"/>
          <p:nvPr/>
        </p:nvSpPr>
        <p:spPr>
          <a:xfrm>
            <a:off x="548640" y="1005840"/>
            <a:ext cx="5486400" cy="320040"/>
          </a:xfrm>
          <a:prstGeom prst="rect">
            <a:avLst/>
          </a:prstGeom>
          <a:noFill/>
        </p:spPr>
        <p:txBody>
          <a:bodyPr wrap="square">
            <a:spAutoFit/>
          </a:bodyPr>
          <a:lstStyle/>
          <a:p>
            <a:pPr algn="l">
              <a:defRPr sz="1400" b="1" i="0">
                <a:solidFill>
                  <a:srgbClr val="2E7D32"/>
                </a:solidFill>
                <a:latin typeface="Calibri"/>
              </a:defRPr>
            </a:pPr>
            <a:r>
              <a:t>Maharashtra Agriculture - Key Challenges</a:t>
            </a:r>
          </a:p>
        </p:txBody>
      </p:sp>
      <p:sp>
        <p:nvSpPr>
          <p:cNvPr id="9" name="Rounded Rectangle 8"/>
          <p:cNvSpPr/>
          <p:nvPr/>
        </p:nvSpPr>
        <p:spPr>
          <a:xfrm>
            <a:off x="548640" y="1463040"/>
            <a:ext cx="2560320" cy="914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554480"/>
            <a:ext cx="2377440" cy="548640"/>
          </a:xfrm>
          <a:prstGeom prst="rect">
            <a:avLst/>
          </a:prstGeom>
          <a:noFill/>
        </p:spPr>
        <p:txBody>
          <a:bodyPr wrap="square">
            <a:spAutoFit/>
          </a:bodyPr>
          <a:lstStyle/>
          <a:p>
            <a:pPr algn="ctr">
              <a:defRPr sz="2600" b="1" i="0">
                <a:solidFill>
                  <a:srgbClr val="1B5E20"/>
                </a:solidFill>
                <a:latin typeface="Calibri"/>
              </a:defRPr>
            </a:pPr>
            <a:r>
              <a:t>1.5 Crore+</a:t>
            </a:r>
          </a:p>
        </p:txBody>
      </p:sp>
      <p:sp>
        <p:nvSpPr>
          <p:cNvPr id="11" name="TextBox 10"/>
          <p:cNvSpPr txBox="1"/>
          <p:nvPr/>
        </p:nvSpPr>
        <p:spPr>
          <a:xfrm>
            <a:off x="640080" y="2011680"/>
            <a:ext cx="2377440" cy="365760"/>
          </a:xfrm>
          <a:prstGeom prst="rect">
            <a:avLst/>
          </a:prstGeom>
          <a:noFill/>
        </p:spPr>
        <p:txBody>
          <a:bodyPr wrap="square">
            <a:spAutoFit/>
          </a:bodyPr>
          <a:lstStyle/>
          <a:p>
            <a:pPr algn="ctr">
              <a:defRPr sz="1100" b="0" i="0">
                <a:solidFill>
                  <a:srgbClr val="666666"/>
                </a:solidFill>
                <a:latin typeface="Calibri"/>
              </a:defRPr>
            </a:pPr>
            <a:r>
              <a:t>Maharashtra Farmers</a:t>
            </a:r>
          </a:p>
        </p:txBody>
      </p:sp>
      <p:sp>
        <p:nvSpPr>
          <p:cNvPr id="12" name="Rounded Rectangle 11"/>
          <p:cNvSpPr/>
          <p:nvPr/>
        </p:nvSpPr>
        <p:spPr>
          <a:xfrm>
            <a:off x="3291840" y="1463040"/>
            <a:ext cx="2560320" cy="914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0" y="1554480"/>
            <a:ext cx="2377440" cy="548640"/>
          </a:xfrm>
          <a:prstGeom prst="rect">
            <a:avLst/>
          </a:prstGeom>
          <a:noFill/>
        </p:spPr>
        <p:txBody>
          <a:bodyPr wrap="square">
            <a:spAutoFit/>
          </a:bodyPr>
          <a:lstStyle/>
          <a:p>
            <a:pPr algn="ctr">
              <a:defRPr sz="2600" b="1" i="0">
                <a:solidFill>
                  <a:srgbClr val="C62828"/>
                </a:solidFill>
                <a:latin typeface="Calibri"/>
              </a:defRPr>
            </a:pPr>
            <a:r>
              <a:t>15-25%</a:t>
            </a:r>
          </a:p>
        </p:txBody>
      </p:sp>
      <p:sp>
        <p:nvSpPr>
          <p:cNvPr id="14" name="TextBox 13"/>
          <p:cNvSpPr txBox="1"/>
          <p:nvPr/>
        </p:nvSpPr>
        <p:spPr>
          <a:xfrm>
            <a:off x="3383280" y="2011680"/>
            <a:ext cx="2377440" cy="365760"/>
          </a:xfrm>
          <a:prstGeom prst="rect">
            <a:avLst/>
          </a:prstGeom>
          <a:noFill/>
        </p:spPr>
        <p:txBody>
          <a:bodyPr wrap="square">
            <a:spAutoFit/>
          </a:bodyPr>
          <a:lstStyle/>
          <a:p>
            <a:pPr algn="ctr">
              <a:defRPr sz="1100" b="0" i="0">
                <a:solidFill>
                  <a:srgbClr val="666666"/>
                </a:solidFill>
                <a:latin typeface="Calibri"/>
              </a:defRPr>
            </a:pPr>
            <a:r>
              <a:t>Revenue Loss Due to</a:t>
            </a:r>
            <a:br/>
            <a:r>
              <a:t>Price Info Asymmetry</a:t>
            </a:r>
          </a:p>
        </p:txBody>
      </p:sp>
      <p:sp>
        <p:nvSpPr>
          <p:cNvPr id="15" name="Rounded Rectangle 14"/>
          <p:cNvSpPr/>
          <p:nvPr/>
        </p:nvSpPr>
        <p:spPr>
          <a:xfrm>
            <a:off x="548640" y="2560320"/>
            <a:ext cx="2560320" cy="914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651760"/>
            <a:ext cx="2377440" cy="548640"/>
          </a:xfrm>
          <a:prstGeom prst="rect">
            <a:avLst/>
          </a:prstGeom>
          <a:noFill/>
        </p:spPr>
        <p:txBody>
          <a:bodyPr wrap="square">
            <a:spAutoFit/>
          </a:bodyPr>
          <a:lstStyle/>
          <a:p>
            <a:pPr algn="ctr">
              <a:defRPr sz="2600" b="1" i="0">
                <a:solidFill>
                  <a:srgbClr val="1565C0"/>
                </a:solidFill>
                <a:latin typeface="Calibri"/>
              </a:defRPr>
            </a:pPr>
            <a:r>
              <a:t>400+</a:t>
            </a:r>
          </a:p>
        </p:txBody>
      </p:sp>
      <p:sp>
        <p:nvSpPr>
          <p:cNvPr id="17" name="TextBox 16"/>
          <p:cNvSpPr txBox="1"/>
          <p:nvPr/>
        </p:nvSpPr>
        <p:spPr>
          <a:xfrm>
            <a:off x="640080" y="3108960"/>
            <a:ext cx="2377440" cy="365760"/>
          </a:xfrm>
          <a:prstGeom prst="rect">
            <a:avLst/>
          </a:prstGeom>
          <a:noFill/>
        </p:spPr>
        <p:txBody>
          <a:bodyPr wrap="square">
            <a:spAutoFit/>
          </a:bodyPr>
          <a:lstStyle/>
          <a:p>
            <a:pPr algn="ctr">
              <a:defRPr sz="1100" b="0" i="0">
                <a:solidFill>
                  <a:srgbClr val="666666"/>
                </a:solidFill>
                <a:latin typeface="Calibri"/>
              </a:defRPr>
            </a:pPr>
            <a:r>
              <a:t>APMC Mandis in</a:t>
            </a:r>
            <a:br/>
            <a:r>
              <a:t>Maharashtra</a:t>
            </a:r>
          </a:p>
        </p:txBody>
      </p:sp>
      <p:sp>
        <p:nvSpPr>
          <p:cNvPr id="18" name="Rounded Rectangle 17"/>
          <p:cNvSpPr/>
          <p:nvPr/>
        </p:nvSpPr>
        <p:spPr>
          <a:xfrm>
            <a:off x="3291840" y="2560320"/>
            <a:ext cx="2560320" cy="914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0" y="2651760"/>
            <a:ext cx="2377440" cy="548640"/>
          </a:xfrm>
          <a:prstGeom prst="rect">
            <a:avLst/>
          </a:prstGeom>
          <a:noFill/>
        </p:spPr>
        <p:txBody>
          <a:bodyPr wrap="square">
            <a:spAutoFit/>
          </a:bodyPr>
          <a:lstStyle/>
          <a:p>
            <a:pPr algn="ctr">
              <a:defRPr sz="2600" b="1" i="0">
                <a:solidFill>
                  <a:srgbClr val="E65100"/>
                </a:solidFill>
                <a:latin typeface="Calibri"/>
              </a:defRPr>
            </a:pPr>
            <a:r>
              <a:t>1 : 50,000</a:t>
            </a:r>
          </a:p>
        </p:txBody>
      </p:sp>
      <p:sp>
        <p:nvSpPr>
          <p:cNvPr id="20" name="TextBox 19"/>
          <p:cNvSpPr txBox="1"/>
          <p:nvPr/>
        </p:nvSpPr>
        <p:spPr>
          <a:xfrm>
            <a:off x="3383280" y="3108960"/>
            <a:ext cx="2377440" cy="365760"/>
          </a:xfrm>
          <a:prstGeom prst="rect">
            <a:avLst/>
          </a:prstGeom>
          <a:noFill/>
        </p:spPr>
        <p:txBody>
          <a:bodyPr wrap="square">
            <a:spAutoFit/>
          </a:bodyPr>
          <a:lstStyle/>
          <a:p>
            <a:pPr algn="ctr">
              <a:defRPr sz="1100" b="0" i="0">
                <a:solidFill>
                  <a:srgbClr val="666666"/>
                </a:solidFill>
                <a:latin typeface="Calibri"/>
              </a:defRPr>
            </a:pPr>
            <a:r>
              <a:t>Vet Doctor to</a:t>
            </a:r>
            <a:br/>
            <a:r>
              <a:t>Livestock Ratio</a:t>
            </a:r>
          </a:p>
        </p:txBody>
      </p:sp>
      <p:sp>
        <p:nvSpPr>
          <p:cNvPr id="21" name="TextBox 20"/>
          <p:cNvSpPr txBox="1"/>
          <p:nvPr/>
        </p:nvSpPr>
        <p:spPr>
          <a:xfrm>
            <a:off x="548640" y="3749039"/>
            <a:ext cx="5486400" cy="320040"/>
          </a:xfrm>
          <a:prstGeom prst="rect">
            <a:avLst/>
          </a:prstGeom>
          <a:noFill/>
        </p:spPr>
        <p:txBody>
          <a:bodyPr wrap="square">
            <a:spAutoFit/>
          </a:bodyPr>
          <a:lstStyle/>
          <a:p>
            <a:pPr algn="l">
              <a:defRPr sz="1300" b="1" i="0">
                <a:solidFill>
                  <a:srgbClr val="1B5E20"/>
                </a:solidFill>
                <a:latin typeface="Calibri"/>
              </a:defRPr>
            </a:pPr>
            <a:r>
              <a:t>Two Critical Gaps Identified:</a:t>
            </a:r>
          </a:p>
        </p:txBody>
      </p:sp>
      <p:sp>
        <p:nvSpPr>
          <p:cNvPr id="22" name="TextBox 21"/>
          <p:cNvSpPr txBox="1"/>
          <p:nvPr/>
        </p:nvSpPr>
        <p:spPr>
          <a:xfrm>
            <a:off x="548640" y="4114800"/>
            <a:ext cx="5486400" cy="2286000"/>
          </a:xfrm>
          <a:prstGeom prst="rect">
            <a:avLst/>
          </a:prstGeom>
          <a:noFill/>
        </p:spPr>
        <p:txBody>
          <a:bodyPr wrap="square">
            <a:spAutoFit/>
          </a:bodyPr>
          <a:lstStyle/>
          <a:p>
            <a:pPr algn="l">
              <a:lnSpc>
                <a:spcPts val="1690"/>
              </a:lnSpc>
              <a:spcAft>
                <a:spcPts val="520"/>
              </a:spcAft>
              <a:defRPr sz="1300" b="0">
                <a:solidFill>
                  <a:srgbClr val="333333"/>
                </a:solidFill>
                <a:latin typeface="Calibri"/>
              </a:defRPr>
            </a:pPr>
            <a:r>
              <a:t>●  No Maharashtra-specific ML-based price intelligence platform</a:t>
            </a:r>
          </a:p>
          <a:p>
            <a:pPr algn="l">
              <a:lnSpc>
                <a:spcPts val="1690"/>
              </a:lnSpc>
              <a:spcAft>
                <a:spcPts val="520"/>
              </a:spcAft>
              <a:defRPr sz="1300" b="0">
                <a:solidFill>
                  <a:srgbClr val="333333"/>
                </a:solidFill>
                <a:latin typeface="Calibri"/>
              </a:defRPr>
            </a:pPr>
            <a:r>
              <a:t>●  No integrated veterinary service with booking &amp; emergency SOS</a:t>
            </a:r>
          </a:p>
          <a:p>
            <a:pPr algn="l">
              <a:lnSpc>
                <a:spcPts val="1690"/>
              </a:lnSpc>
              <a:spcAft>
                <a:spcPts val="520"/>
              </a:spcAft>
              <a:defRPr sz="1300" b="0">
                <a:solidFill>
                  <a:srgbClr val="333333"/>
                </a:solidFill>
                <a:latin typeface="Calibri"/>
              </a:defRPr>
            </a:pPr>
            <a:r>
              <a:t>●  Existing platforms (e-NAM, MSAMB) lack prediction &amp; advisory</a:t>
            </a:r>
          </a:p>
          <a:p>
            <a:pPr algn="l">
              <a:lnSpc>
                <a:spcPts val="1690"/>
              </a:lnSpc>
              <a:spcAft>
                <a:spcPts val="520"/>
              </a:spcAft>
              <a:defRPr sz="1300" b="0">
                <a:solidFill>
                  <a:srgbClr val="333333"/>
                </a:solidFill>
                <a:latin typeface="Calibri"/>
              </a:defRPr>
            </a:pPr>
            <a:r>
              <a:t>●  Rural vets are scarce; no verification or discovery system</a:t>
            </a:r>
          </a:p>
        </p:txBody>
      </p:sp>
      <p:sp>
        <p:nvSpPr>
          <p:cNvPr id="23" name="TextBox 22"/>
          <p:cNvSpPr txBox="1"/>
          <p:nvPr/>
        </p:nvSpPr>
        <p:spPr>
          <a:xfrm>
            <a:off x="6400800" y="1005840"/>
            <a:ext cx="5486400" cy="320040"/>
          </a:xfrm>
          <a:prstGeom prst="rect">
            <a:avLst/>
          </a:prstGeom>
          <a:noFill/>
        </p:spPr>
        <p:txBody>
          <a:bodyPr wrap="square">
            <a:spAutoFit/>
          </a:bodyPr>
          <a:lstStyle/>
          <a:p>
            <a:pPr algn="ctr">
              <a:defRPr sz="1300" b="1" i="0">
                <a:solidFill>
                  <a:srgbClr val="2E7D32"/>
                </a:solidFill>
                <a:latin typeface="Calibri"/>
              </a:defRPr>
            </a:pPr>
            <a:r>
              <a:t>System Context (DFD Level 0)</a:t>
            </a:r>
          </a:p>
        </p:txBody>
      </p:sp>
      <p:pic>
        <p:nvPicPr>
          <p:cNvPr id="24" name="Picture 23" descr="dfd_level0.png"/>
          <p:cNvPicPr>
            <a:picLocks noChangeAspect="1"/>
          </p:cNvPicPr>
          <p:nvPr/>
        </p:nvPicPr>
        <p:blipFill>
          <a:blip r:embed="rId3"/>
          <a:stretch>
            <a:fillRect/>
          </a:stretch>
        </p:blipFill>
        <p:spPr>
          <a:xfrm>
            <a:off x="6400800" y="1371600"/>
            <a:ext cx="5303520" cy="3444609"/>
          </a:xfrm>
          <a:prstGeom prst="rect">
            <a:avLst/>
          </a:prstGeom>
        </p:spPr>
      </p:pic>
      <p:sp>
        <p:nvSpPr>
          <p:cNvPr id="25" name="TextBox 24"/>
          <p:cNvSpPr txBox="1"/>
          <p:nvPr/>
        </p:nvSpPr>
        <p:spPr>
          <a:xfrm>
            <a:off x="6400800" y="5669280"/>
            <a:ext cx="5303520" cy="274320"/>
          </a:xfrm>
          <a:prstGeom prst="rect">
            <a:avLst/>
          </a:prstGeom>
          <a:noFill/>
        </p:spPr>
        <p:txBody>
          <a:bodyPr wrap="square">
            <a:spAutoFit/>
          </a:bodyPr>
          <a:lstStyle/>
          <a:p>
            <a:pPr algn="ctr">
              <a:defRPr sz="1000" b="0" i="1">
                <a:solidFill>
                  <a:srgbClr val="666666"/>
                </a:solidFill>
                <a:latin typeface="Calibri"/>
              </a:defRPr>
            </a:pPr>
            <a:r>
              <a:t>Fig: Data Flow Diagram - External Entities &amp; Data Stores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Literature Survey</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3/13</a:t>
            </a:r>
          </a:p>
        </p:txBody>
      </p:sp>
      <p:sp>
        <p:nvSpPr>
          <p:cNvPr id="8" name="Rectangle 7"/>
          <p:cNvSpPr/>
          <p:nvPr/>
        </p:nvSpPr>
        <p:spPr>
          <a:xfrm>
            <a:off x="109728" y="1219789"/>
            <a:ext cx="164592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200"/>
              </a:spcBef>
              <a:defRPr sz="1000" b="1">
                <a:solidFill>
                  <a:srgbClr val="FFFFFF"/>
                </a:solidFill>
              </a:defRPr>
            </a:pPr>
            <a:r>
              <a:t>System</a:t>
            </a:r>
          </a:p>
        </p:txBody>
      </p:sp>
      <p:sp>
        <p:nvSpPr>
          <p:cNvPr id="9" name="Rectangle 8"/>
          <p:cNvSpPr/>
          <p:nvPr/>
        </p:nvSpPr>
        <p:spPr>
          <a:xfrm>
            <a:off x="1773936" y="1219789"/>
            <a:ext cx="118872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200"/>
              </a:spcBef>
              <a:defRPr sz="1000" b="1">
                <a:solidFill>
                  <a:srgbClr val="FFFFFF"/>
                </a:solidFill>
              </a:defRPr>
            </a:pPr>
            <a:r>
              <a:t>ML Price</a:t>
            </a:r>
            <a:br/>
            <a:r>
              <a:t>Forecast</a:t>
            </a:r>
          </a:p>
        </p:txBody>
      </p:sp>
      <p:sp>
        <p:nvSpPr>
          <p:cNvPr id="10" name="Rectangle 9"/>
          <p:cNvSpPr/>
          <p:nvPr/>
        </p:nvSpPr>
        <p:spPr>
          <a:xfrm>
            <a:off x="2980944" y="1219789"/>
            <a:ext cx="118872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200"/>
              </a:spcBef>
              <a:defRPr sz="1000" b="1">
                <a:solidFill>
                  <a:srgbClr val="FFFFFF"/>
                </a:solidFill>
              </a:defRPr>
            </a:pPr>
            <a:r>
              <a:t>Crop Risk</a:t>
            </a:r>
            <a:br/>
            <a:r>
              <a:t>Advisory</a:t>
            </a:r>
          </a:p>
        </p:txBody>
      </p:sp>
      <p:sp>
        <p:nvSpPr>
          <p:cNvPr id="11" name="Rectangle 10"/>
          <p:cNvSpPr/>
          <p:nvPr/>
        </p:nvSpPr>
        <p:spPr>
          <a:xfrm>
            <a:off x="4187952" y="1219789"/>
            <a:ext cx="118872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200"/>
              </a:spcBef>
              <a:defRPr sz="1000" b="1">
                <a:solidFill>
                  <a:srgbClr val="FFFFFF"/>
                </a:solidFill>
              </a:defRPr>
            </a:pPr>
            <a:r>
              <a:t>Vet</a:t>
            </a:r>
            <a:br/>
            <a:r>
              <a:t>Services</a:t>
            </a:r>
          </a:p>
        </p:txBody>
      </p:sp>
      <p:sp>
        <p:nvSpPr>
          <p:cNvPr id="12" name="Rectangle 11"/>
          <p:cNvSpPr/>
          <p:nvPr/>
        </p:nvSpPr>
        <p:spPr>
          <a:xfrm>
            <a:off x="5394960" y="1219789"/>
            <a:ext cx="118872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200"/>
              </a:spcBef>
              <a:defRPr sz="1000" b="1">
                <a:solidFill>
                  <a:srgbClr val="FFFFFF"/>
                </a:solidFill>
              </a:defRPr>
            </a:pPr>
            <a:r>
              <a:t>MH</a:t>
            </a:r>
            <a:br/>
            <a:r>
              <a:t>Specific</a:t>
            </a:r>
          </a:p>
        </p:txBody>
      </p:sp>
      <p:sp>
        <p:nvSpPr>
          <p:cNvPr id="13" name="Rectangle 12"/>
          <p:cNvSpPr/>
          <p:nvPr/>
        </p:nvSpPr>
        <p:spPr>
          <a:xfrm>
            <a:off x="109728" y="1740996"/>
            <a:ext cx="16459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333333"/>
                </a:solidFill>
              </a:defRPr>
            </a:pPr>
            <a:r>
              <a:t>e-NAM</a:t>
            </a:r>
          </a:p>
        </p:txBody>
      </p:sp>
      <p:sp>
        <p:nvSpPr>
          <p:cNvPr id="14" name="Rectangle 13"/>
          <p:cNvSpPr/>
          <p:nvPr/>
        </p:nvSpPr>
        <p:spPr>
          <a:xfrm>
            <a:off x="1773936" y="1740996"/>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15" name="Rectangle 14"/>
          <p:cNvSpPr/>
          <p:nvPr/>
        </p:nvSpPr>
        <p:spPr>
          <a:xfrm>
            <a:off x="2980944" y="1740996"/>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16" name="Rectangle 15"/>
          <p:cNvSpPr/>
          <p:nvPr/>
        </p:nvSpPr>
        <p:spPr>
          <a:xfrm>
            <a:off x="4187952" y="1740996"/>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17" name="Rectangle 16"/>
          <p:cNvSpPr/>
          <p:nvPr/>
        </p:nvSpPr>
        <p:spPr>
          <a:xfrm>
            <a:off x="5394960" y="1740996"/>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18" name="Rectangle 17"/>
          <p:cNvSpPr/>
          <p:nvPr/>
        </p:nvSpPr>
        <p:spPr>
          <a:xfrm>
            <a:off x="109728" y="2125044"/>
            <a:ext cx="1645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333333"/>
                </a:solidFill>
              </a:defRPr>
            </a:pPr>
            <a:r>
              <a:t>AgriMarket</a:t>
            </a:r>
          </a:p>
        </p:txBody>
      </p:sp>
      <p:sp>
        <p:nvSpPr>
          <p:cNvPr id="19" name="Rectangle 18"/>
          <p:cNvSpPr/>
          <p:nvPr/>
        </p:nvSpPr>
        <p:spPr>
          <a:xfrm>
            <a:off x="1773936" y="2125044"/>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20" name="Rectangle 19"/>
          <p:cNvSpPr/>
          <p:nvPr/>
        </p:nvSpPr>
        <p:spPr>
          <a:xfrm>
            <a:off x="2980944" y="2125044"/>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21" name="Rectangle 20"/>
          <p:cNvSpPr/>
          <p:nvPr/>
        </p:nvSpPr>
        <p:spPr>
          <a:xfrm>
            <a:off x="4187952" y="2125044"/>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22" name="Rectangle 21"/>
          <p:cNvSpPr/>
          <p:nvPr/>
        </p:nvSpPr>
        <p:spPr>
          <a:xfrm>
            <a:off x="5394960" y="2125044"/>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23" name="Rectangle 22"/>
          <p:cNvSpPr/>
          <p:nvPr/>
        </p:nvSpPr>
        <p:spPr>
          <a:xfrm>
            <a:off x="109728" y="2509092"/>
            <a:ext cx="16459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333333"/>
                </a:solidFill>
              </a:defRPr>
            </a:pPr>
            <a:r>
              <a:t>MSAMB Portal</a:t>
            </a:r>
          </a:p>
        </p:txBody>
      </p:sp>
      <p:sp>
        <p:nvSpPr>
          <p:cNvPr id="24" name="Rectangle 23"/>
          <p:cNvSpPr/>
          <p:nvPr/>
        </p:nvSpPr>
        <p:spPr>
          <a:xfrm>
            <a:off x="1773936" y="2509092"/>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25" name="Rectangle 24"/>
          <p:cNvSpPr/>
          <p:nvPr/>
        </p:nvSpPr>
        <p:spPr>
          <a:xfrm>
            <a:off x="2980944" y="2509092"/>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26" name="Rectangle 25"/>
          <p:cNvSpPr/>
          <p:nvPr/>
        </p:nvSpPr>
        <p:spPr>
          <a:xfrm>
            <a:off x="4187952" y="2509092"/>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27" name="Rectangle 26"/>
          <p:cNvSpPr/>
          <p:nvPr/>
        </p:nvSpPr>
        <p:spPr>
          <a:xfrm>
            <a:off x="5394960" y="2509092"/>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2E7D32"/>
                </a:solidFill>
              </a:defRPr>
            </a:pPr>
            <a:r>
              <a:t>Yes</a:t>
            </a:r>
          </a:p>
        </p:txBody>
      </p:sp>
      <p:sp>
        <p:nvSpPr>
          <p:cNvPr id="28" name="Rectangle 27"/>
          <p:cNvSpPr/>
          <p:nvPr/>
        </p:nvSpPr>
        <p:spPr>
          <a:xfrm>
            <a:off x="109728" y="2893140"/>
            <a:ext cx="1645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333333"/>
                </a:solidFill>
              </a:defRPr>
            </a:pPr>
            <a:r>
              <a:t>CropIn</a:t>
            </a:r>
          </a:p>
        </p:txBody>
      </p:sp>
      <p:sp>
        <p:nvSpPr>
          <p:cNvPr id="29" name="Rectangle 28"/>
          <p:cNvSpPr/>
          <p:nvPr/>
        </p:nvSpPr>
        <p:spPr>
          <a:xfrm>
            <a:off x="1773936" y="2893140"/>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333333"/>
                </a:solidFill>
              </a:defRPr>
            </a:pPr>
            <a:r>
              <a:t>Ltd</a:t>
            </a:r>
          </a:p>
        </p:txBody>
      </p:sp>
      <p:sp>
        <p:nvSpPr>
          <p:cNvPr id="30" name="Rectangle 29"/>
          <p:cNvSpPr/>
          <p:nvPr/>
        </p:nvSpPr>
        <p:spPr>
          <a:xfrm>
            <a:off x="2980944" y="2893140"/>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333333"/>
                </a:solidFill>
              </a:defRPr>
            </a:pPr>
            <a:r>
              <a:t>Ltd</a:t>
            </a:r>
          </a:p>
        </p:txBody>
      </p:sp>
      <p:sp>
        <p:nvSpPr>
          <p:cNvPr id="31" name="Rectangle 30"/>
          <p:cNvSpPr/>
          <p:nvPr/>
        </p:nvSpPr>
        <p:spPr>
          <a:xfrm>
            <a:off x="4187952" y="2893140"/>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32" name="Rectangle 31"/>
          <p:cNvSpPr/>
          <p:nvPr/>
        </p:nvSpPr>
        <p:spPr>
          <a:xfrm>
            <a:off x="5394960" y="2893140"/>
            <a:ext cx="1188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33" name="Rectangle 32"/>
          <p:cNvSpPr/>
          <p:nvPr/>
        </p:nvSpPr>
        <p:spPr>
          <a:xfrm>
            <a:off x="109728" y="3277188"/>
            <a:ext cx="16459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333333"/>
                </a:solidFill>
              </a:defRPr>
            </a:pPr>
            <a:r>
              <a:t>Kisan Suvidha</a:t>
            </a:r>
          </a:p>
        </p:txBody>
      </p:sp>
      <p:sp>
        <p:nvSpPr>
          <p:cNvPr id="34" name="Rectangle 33"/>
          <p:cNvSpPr/>
          <p:nvPr/>
        </p:nvSpPr>
        <p:spPr>
          <a:xfrm>
            <a:off x="1773936" y="3277188"/>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35" name="Rectangle 34"/>
          <p:cNvSpPr/>
          <p:nvPr/>
        </p:nvSpPr>
        <p:spPr>
          <a:xfrm>
            <a:off x="2980944" y="3277188"/>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36" name="Rectangle 35"/>
          <p:cNvSpPr/>
          <p:nvPr/>
        </p:nvSpPr>
        <p:spPr>
          <a:xfrm>
            <a:off x="4187952" y="3277188"/>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37" name="Rectangle 36"/>
          <p:cNvSpPr/>
          <p:nvPr/>
        </p:nvSpPr>
        <p:spPr>
          <a:xfrm>
            <a:off x="5394960" y="3277188"/>
            <a:ext cx="1188720" cy="36576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0">
                <a:solidFill>
                  <a:srgbClr val="C62828"/>
                </a:solidFill>
              </a:defRPr>
            </a:pPr>
            <a:r>
              <a:t>No</a:t>
            </a:r>
          </a:p>
        </p:txBody>
      </p:sp>
      <p:sp>
        <p:nvSpPr>
          <p:cNvPr id="38" name="Rectangle 37"/>
          <p:cNvSpPr/>
          <p:nvPr/>
        </p:nvSpPr>
        <p:spPr>
          <a:xfrm>
            <a:off x="109728" y="3661236"/>
            <a:ext cx="164592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B5E20"/>
                </a:solidFill>
              </a:defRPr>
            </a:pPr>
            <a:r>
              <a:t>MANDIMITRA</a:t>
            </a:r>
          </a:p>
        </p:txBody>
      </p:sp>
      <p:sp>
        <p:nvSpPr>
          <p:cNvPr id="39" name="Rectangle 38"/>
          <p:cNvSpPr/>
          <p:nvPr/>
        </p:nvSpPr>
        <p:spPr>
          <a:xfrm>
            <a:off x="1773936" y="3661236"/>
            <a:ext cx="118872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E7D32"/>
                </a:solidFill>
              </a:defRPr>
            </a:pPr>
            <a:r>
              <a:t>Yes</a:t>
            </a:r>
          </a:p>
        </p:txBody>
      </p:sp>
      <p:sp>
        <p:nvSpPr>
          <p:cNvPr id="40" name="Rectangle 39"/>
          <p:cNvSpPr/>
          <p:nvPr/>
        </p:nvSpPr>
        <p:spPr>
          <a:xfrm>
            <a:off x="2980944" y="3661236"/>
            <a:ext cx="118872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E7D32"/>
                </a:solidFill>
              </a:defRPr>
            </a:pPr>
            <a:r>
              <a:t>Yes</a:t>
            </a:r>
          </a:p>
        </p:txBody>
      </p:sp>
      <p:sp>
        <p:nvSpPr>
          <p:cNvPr id="41" name="Rectangle 40"/>
          <p:cNvSpPr/>
          <p:nvPr/>
        </p:nvSpPr>
        <p:spPr>
          <a:xfrm>
            <a:off x="4187952" y="3661236"/>
            <a:ext cx="118872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E7D32"/>
                </a:solidFill>
              </a:defRPr>
            </a:pPr>
            <a:r>
              <a:t>Yes</a:t>
            </a:r>
          </a:p>
        </p:txBody>
      </p:sp>
      <p:sp>
        <p:nvSpPr>
          <p:cNvPr id="42" name="Rectangle 41"/>
          <p:cNvSpPr/>
          <p:nvPr/>
        </p:nvSpPr>
        <p:spPr>
          <a:xfrm>
            <a:off x="5394960" y="3661236"/>
            <a:ext cx="118872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E7D32"/>
                </a:solidFill>
              </a:defRPr>
            </a:pPr>
            <a:r>
              <a:t>Yes</a:t>
            </a:r>
          </a:p>
        </p:txBody>
      </p:sp>
      <p:sp>
        <p:nvSpPr>
          <p:cNvPr id="43" name="TextBox 42"/>
          <p:cNvSpPr txBox="1"/>
          <p:nvPr/>
        </p:nvSpPr>
        <p:spPr>
          <a:xfrm>
            <a:off x="6858000" y="1005840"/>
            <a:ext cx="5029200" cy="320040"/>
          </a:xfrm>
          <a:prstGeom prst="rect">
            <a:avLst/>
          </a:prstGeom>
          <a:noFill/>
        </p:spPr>
        <p:txBody>
          <a:bodyPr wrap="square">
            <a:spAutoFit/>
          </a:bodyPr>
          <a:lstStyle/>
          <a:p>
            <a:pPr algn="l">
              <a:defRPr sz="1300" b="1" i="0">
                <a:solidFill>
                  <a:srgbClr val="2E7D32"/>
                </a:solidFill>
                <a:latin typeface="Calibri"/>
              </a:defRPr>
            </a:pPr>
            <a:r>
              <a:t>Key Research Papers Influencing Design</a:t>
            </a:r>
          </a:p>
        </p:txBody>
      </p:sp>
      <p:sp>
        <p:nvSpPr>
          <p:cNvPr id="44" name="TextBox 43"/>
          <p:cNvSpPr txBox="1"/>
          <p:nvPr/>
        </p:nvSpPr>
        <p:spPr>
          <a:xfrm>
            <a:off x="6858000" y="1371600"/>
            <a:ext cx="5029200" cy="3200400"/>
          </a:xfrm>
          <a:prstGeom prst="rect">
            <a:avLst/>
          </a:prstGeom>
          <a:noFill/>
        </p:spPr>
        <p:txBody>
          <a:bodyPr wrap="square">
            <a:spAutoFit/>
          </a:bodyPr>
          <a:lstStyle/>
          <a:p>
            <a:pPr algn="l">
              <a:lnSpc>
                <a:spcPts val="1320"/>
              </a:lnSpc>
              <a:spcAft>
                <a:spcPts val="440"/>
              </a:spcAft>
              <a:defRPr sz="1100" b="0">
                <a:solidFill>
                  <a:srgbClr val="333333"/>
                </a:solidFill>
                <a:latin typeface="Calibri"/>
              </a:defRPr>
            </a:pPr>
            <a:r>
              <a:t>1. NeuralCrop (2025) - GDD, VPD, Drought</a:t>
            </a:r>
            <a:br/>
            <a:r>
              <a:t>   Stress Index features for crop prediction</a:t>
            </a:r>
          </a:p>
          <a:p>
            <a:pPr algn="l">
              <a:lnSpc>
                <a:spcPts val="1320"/>
              </a:lnSpc>
              <a:spcAft>
                <a:spcPts val="440"/>
              </a:spcAft>
              <a:defRPr sz="1100" b="0">
                <a:solidFill>
                  <a:srgbClr val="333333"/>
                </a:solidFill>
                <a:latin typeface="Calibri"/>
              </a:defRPr>
            </a:pPr>
            <a:r>
              <a:t>2. MT-CYP-Net (2025) - Focal-loss inspired</a:t>
            </a:r>
            <a:br/>
            <a:r>
              <a:t>   class weighting for imbalanced agri data</a:t>
            </a:r>
          </a:p>
          <a:p>
            <a:pPr algn="l">
              <a:lnSpc>
                <a:spcPts val="1320"/>
              </a:lnSpc>
              <a:spcAft>
                <a:spcPts val="440"/>
              </a:spcAft>
              <a:defRPr sz="1100" b="0">
                <a:solidFill>
                  <a:srgbClr val="333333"/>
                </a:solidFill>
                <a:latin typeface="Calibri"/>
              </a:defRPr>
            </a:pPr>
            <a:r>
              <a:t>3. LightGBM (NeurIPS 2017) - Core gradient</a:t>
            </a:r>
            <a:br/>
            <a:r>
              <a:t>   boosting algorithm for both our models</a:t>
            </a:r>
          </a:p>
          <a:p>
            <a:pPr algn="l">
              <a:lnSpc>
                <a:spcPts val="1320"/>
              </a:lnSpc>
              <a:spcAft>
                <a:spcPts val="440"/>
              </a:spcAft>
              <a:defRPr sz="1100" b="0">
                <a:solidFill>
                  <a:srgbClr val="333333"/>
                </a:solidFill>
                <a:latin typeface="Calibri"/>
              </a:defRPr>
            </a:pPr>
            <a:r>
              <a:t>4. Conformal Prediction (NeurIPS 2019) -</a:t>
            </a:r>
            <a:br/>
            <a:r>
              <a:t>   Calibrated uncertainty intervals for prices</a:t>
            </a:r>
          </a:p>
          <a:p>
            <a:pPr algn="l">
              <a:lnSpc>
                <a:spcPts val="1320"/>
              </a:lnSpc>
              <a:spcAft>
                <a:spcPts val="440"/>
              </a:spcAft>
              <a:defRPr sz="1100" b="0">
                <a:solidFill>
                  <a:srgbClr val="333333"/>
                </a:solidFill>
                <a:latin typeface="Calibri"/>
              </a:defRPr>
            </a:pPr>
            <a:r>
              <a:t>5. TabPFN (NeurIPS 2022) - Small-sample</a:t>
            </a:r>
            <a:br/>
            <a:r>
              <a:t>   bootstrapping for minority class training</a:t>
            </a:r>
          </a:p>
        </p:txBody>
      </p:sp>
      <p:pic>
        <p:nvPicPr>
          <p:cNvPr id="45" name="Picture 44" descr="lit_survey_comparison.png"/>
          <p:cNvPicPr>
            <a:picLocks noChangeAspect="1"/>
          </p:cNvPicPr>
          <p:nvPr/>
        </p:nvPicPr>
        <p:blipFill>
          <a:blip r:embed="rId3"/>
          <a:stretch>
            <a:fillRect/>
          </a:stretch>
        </p:blipFill>
        <p:spPr>
          <a:xfrm>
            <a:off x="6858000" y="3530397"/>
            <a:ext cx="5303520" cy="3236163"/>
          </a:xfrm>
          <a:prstGeom prst="rect">
            <a:avLst/>
          </a:prstGeom>
        </p:spPr>
      </p:pic>
      <p:sp>
        <p:nvSpPr>
          <p:cNvPr id="46" name="TextBox 45"/>
          <p:cNvSpPr txBox="1"/>
          <p:nvPr/>
        </p:nvSpPr>
        <p:spPr>
          <a:xfrm>
            <a:off x="6583680" y="6035040"/>
            <a:ext cx="5303520" cy="274320"/>
          </a:xfrm>
          <a:prstGeom prst="rect">
            <a:avLst/>
          </a:prstGeom>
          <a:noFill/>
        </p:spPr>
        <p:txBody>
          <a:bodyPr wrap="square">
            <a:spAutoFit/>
          </a:bodyPr>
          <a:lstStyle/>
          <a:p>
            <a:pPr algn="ctr">
              <a:defRPr sz="1000" b="0" i="1">
                <a:solidFill>
                  <a:srgbClr val="666666"/>
                </a:solidFill>
                <a:latin typeface="Calibri"/>
              </a:defRPr>
            </a:pPr>
            <a:r>
              <a:t>Fig: Comparative Analysis with Existing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Problem Statement &amp; Objectives</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4/13</a:t>
            </a:r>
          </a:p>
        </p:txBody>
      </p:sp>
      <p:sp>
        <p:nvSpPr>
          <p:cNvPr id="8" name="Rounded Rectangle 7"/>
          <p:cNvSpPr/>
          <p:nvPr/>
        </p:nvSpPr>
        <p:spPr>
          <a:xfrm>
            <a:off x="457200" y="1097280"/>
            <a:ext cx="11247120" cy="1188720"/>
          </a:xfrm>
          <a:prstGeom prst="roundRect">
            <a:avLst/>
          </a:prstGeom>
          <a:solidFill>
            <a:srgbClr val="FFEBEE"/>
          </a:solidFill>
          <a:ln w="19050">
            <a:solidFill>
              <a:srgbClr val="EF9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1143000"/>
            <a:ext cx="1371600" cy="274320"/>
          </a:xfrm>
          <a:prstGeom prst="rect">
            <a:avLst/>
          </a:prstGeom>
          <a:noFill/>
        </p:spPr>
        <p:txBody>
          <a:bodyPr wrap="square">
            <a:spAutoFit/>
          </a:bodyPr>
          <a:lstStyle/>
          <a:p>
            <a:pPr algn="l">
              <a:defRPr sz="1100" b="1" i="0">
                <a:solidFill>
                  <a:srgbClr val="C62828"/>
                </a:solidFill>
                <a:latin typeface="Calibri"/>
              </a:defRPr>
            </a:pPr>
            <a:r>
              <a:t>PROBLEM</a:t>
            </a:r>
          </a:p>
        </p:txBody>
      </p:sp>
      <p:sp>
        <p:nvSpPr>
          <p:cNvPr id="10" name="TextBox 9"/>
          <p:cNvSpPr txBox="1"/>
          <p:nvPr/>
        </p:nvSpPr>
        <p:spPr>
          <a:xfrm>
            <a:off x="640080" y="1371600"/>
            <a:ext cx="10881360" cy="822960"/>
          </a:xfrm>
          <a:prstGeom prst="rect">
            <a:avLst/>
          </a:prstGeom>
          <a:noFill/>
        </p:spPr>
        <p:txBody>
          <a:bodyPr wrap="square">
            <a:spAutoFit/>
          </a:bodyPr>
          <a:lstStyle/>
          <a:p>
            <a:pPr algn="l">
              <a:defRPr sz="1300" b="0" i="0">
                <a:solidFill>
                  <a:srgbClr val="333333"/>
                </a:solidFill>
                <a:latin typeface="Calibri"/>
              </a:defRPr>
            </a:pPr>
            <a:r>
              <a:t>Maharashtra's 1.5 crore farmers face 15-25% revenue loss due to price information asymmetry, and critically limited access to verified veterinary services (1 vet per 50,000 livestock). No existing platform combines ML-based agricultural market intelligence with integrated veterinary services for Maharashtra.</a:t>
            </a:r>
          </a:p>
        </p:txBody>
      </p:sp>
      <p:sp>
        <p:nvSpPr>
          <p:cNvPr id="11" name="TextBox 10"/>
          <p:cNvSpPr txBox="1"/>
          <p:nvPr/>
        </p:nvSpPr>
        <p:spPr>
          <a:xfrm>
            <a:off x="457200" y="2468880"/>
            <a:ext cx="2743200" cy="320040"/>
          </a:xfrm>
          <a:prstGeom prst="rect">
            <a:avLst/>
          </a:prstGeom>
          <a:noFill/>
        </p:spPr>
        <p:txBody>
          <a:bodyPr wrap="square">
            <a:spAutoFit/>
          </a:bodyPr>
          <a:lstStyle/>
          <a:p>
            <a:pPr algn="l">
              <a:defRPr sz="1300" b="1" i="0">
                <a:solidFill>
                  <a:srgbClr val="1B5E20"/>
                </a:solidFill>
                <a:latin typeface="Calibri"/>
              </a:defRPr>
            </a:pPr>
            <a:r>
              <a:t>SIX PROJECT OBJECTIVES</a:t>
            </a:r>
          </a:p>
        </p:txBody>
      </p:sp>
      <p:sp>
        <p:nvSpPr>
          <p:cNvPr id="12" name="Rounded Rectangle 11"/>
          <p:cNvSpPr/>
          <p:nvPr/>
        </p:nvSpPr>
        <p:spPr>
          <a:xfrm>
            <a:off x="457200" y="2834640"/>
            <a:ext cx="3611880" cy="1691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48640" y="2926080"/>
            <a:ext cx="64008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OBJ 1</a:t>
            </a:r>
          </a:p>
        </p:txBody>
      </p:sp>
      <p:sp>
        <p:nvSpPr>
          <p:cNvPr id="14" name="TextBox 13"/>
          <p:cNvSpPr txBox="1"/>
          <p:nvPr/>
        </p:nvSpPr>
        <p:spPr>
          <a:xfrm>
            <a:off x="1280160" y="2907792"/>
            <a:ext cx="2651760" cy="320040"/>
          </a:xfrm>
          <a:prstGeom prst="rect">
            <a:avLst/>
          </a:prstGeom>
          <a:noFill/>
        </p:spPr>
        <p:txBody>
          <a:bodyPr wrap="square">
            <a:spAutoFit/>
          </a:bodyPr>
          <a:lstStyle/>
          <a:p>
            <a:pPr algn="l">
              <a:defRPr sz="1300" b="1" i="0">
                <a:solidFill>
                  <a:srgbClr val="1B5E20"/>
                </a:solidFill>
                <a:latin typeface="Calibri"/>
              </a:defRPr>
            </a:pPr>
            <a:r>
              <a:t>Data Pipeline</a:t>
            </a:r>
          </a:p>
        </p:txBody>
      </p:sp>
      <p:sp>
        <p:nvSpPr>
          <p:cNvPr id="15" name="TextBox 14"/>
          <p:cNvSpPr txBox="1"/>
          <p:nvPr/>
        </p:nvSpPr>
        <p:spPr>
          <a:xfrm>
            <a:off x="594360" y="3291840"/>
            <a:ext cx="3337560" cy="1188720"/>
          </a:xfrm>
          <a:prstGeom prst="rect">
            <a:avLst/>
          </a:prstGeom>
          <a:noFill/>
        </p:spPr>
        <p:txBody>
          <a:bodyPr wrap="square">
            <a:spAutoFit/>
          </a:bodyPr>
          <a:lstStyle/>
          <a:p>
            <a:pPr algn="l">
              <a:defRPr sz="1100" b="0" i="0">
                <a:solidFill>
                  <a:srgbClr val="333333"/>
                </a:solidFill>
                <a:latin typeface="Calibri"/>
              </a:defRPr>
            </a:pPr>
            <a:r>
              <a:t>6.1M+ mandi records, DuckDB</a:t>
            </a:r>
            <a:br/>
            <a:r>
              <a:t>dedup, Pandera validation,</a:t>
            </a:r>
            <a:br/>
            <a:r>
              <a:t>MH-only hard constraint</a:t>
            </a:r>
          </a:p>
        </p:txBody>
      </p:sp>
      <p:sp>
        <p:nvSpPr>
          <p:cNvPr id="16" name="Rounded Rectangle 15"/>
          <p:cNvSpPr/>
          <p:nvPr/>
        </p:nvSpPr>
        <p:spPr>
          <a:xfrm>
            <a:off x="4251960" y="2834640"/>
            <a:ext cx="3611880" cy="1691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43400" y="2926080"/>
            <a:ext cx="64008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OBJ 2</a:t>
            </a:r>
          </a:p>
        </p:txBody>
      </p:sp>
      <p:sp>
        <p:nvSpPr>
          <p:cNvPr id="18" name="TextBox 17"/>
          <p:cNvSpPr txBox="1"/>
          <p:nvPr/>
        </p:nvSpPr>
        <p:spPr>
          <a:xfrm>
            <a:off x="5074920" y="2907792"/>
            <a:ext cx="2651760" cy="320040"/>
          </a:xfrm>
          <a:prstGeom prst="rect">
            <a:avLst/>
          </a:prstGeom>
          <a:noFill/>
        </p:spPr>
        <p:txBody>
          <a:bodyPr wrap="square">
            <a:spAutoFit/>
          </a:bodyPr>
          <a:lstStyle/>
          <a:p>
            <a:pPr algn="l">
              <a:defRPr sz="1300" b="1" i="0">
                <a:solidFill>
                  <a:srgbClr val="1B5E20"/>
                </a:solidFill>
                <a:latin typeface="Calibri"/>
              </a:defRPr>
            </a:pPr>
            <a:r>
              <a:t>Weather Integration</a:t>
            </a:r>
          </a:p>
        </p:txBody>
      </p:sp>
      <p:sp>
        <p:nvSpPr>
          <p:cNvPr id="19" name="TextBox 18"/>
          <p:cNvSpPr txBox="1"/>
          <p:nvPr/>
        </p:nvSpPr>
        <p:spPr>
          <a:xfrm>
            <a:off x="4389120" y="3291840"/>
            <a:ext cx="3337560" cy="1188720"/>
          </a:xfrm>
          <a:prstGeom prst="rect">
            <a:avLst/>
          </a:prstGeom>
          <a:noFill/>
        </p:spPr>
        <p:txBody>
          <a:bodyPr wrap="square">
            <a:spAutoFit/>
          </a:bodyPr>
          <a:lstStyle/>
          <a:p>
            <a:pPr algn="l">
              <a:defRPr sz="1100" b="0" i="0">
                <a:solidFill>
                  <a:srgbClr val="333333"/>
                </a:solidFill>
                <a:latin typeface="Calibri"/>
              </a:defRPr>
            </a:pPr>
            <a:r>
              <a:t>NASA POWER (10yr history) +</a:t>
            </a:r>
            <a:br/>
            <a:r>
              <a:t>Open-Meteo (16-day forecast)</a:t>
            </a:r>
            <a:br/>
            <a:r>
              <a:t>for all 36 MH districts</a:t>
            </a:r>
          </a:p>
        </p:txBody>
      </p:sp>
      <p:sp>
        <p:nvSpPr>
          <p:cNvPr id="20" name="Rounded Rectangle 19"/>
          <p:cNvSpPr/>
          <p:nvPr/>
        </p:nvSpPr>
        <p:spPr>
          <a:xfrm>
            <a:off x="8046720" y="2834640"/>
            <a:ext cx="3611880" cy="1691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138160" y="2926080"/>
            <a:ext cx="64008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OBJ 3</a:t>
            </a:r>
          </a:p>
        </p:txBody>
      </p:sp>
      <p:sp>
        <p:nvSpPr>
          <p:cNvPr id="22" name="TextBox 21"/>
          <p:cNvSpPr txBox="1"/>
          <p:nvPr/>
        </p:nvSpPr>
        <p:spPr>
          <a:xfrm>
            <a:off x="8869680" y="2907792"/>
            <a:ext cx="2651760" cy="320040"/>
          </a:xfrm>
          <a:prstGeom prst="rect">
            <a:avLst/>
          </a:prstGeom>
          <a:noFill/>
        </p:spPr>
        <p:txBody>
          <a:bodyPr wrap="square">
            <a:spAutoFit/>
          </a:bodyPr>
          <a:lstStyle/>
          <a:p>
            <a:pPr algn="l">
              <a:defRPr sz="1300" b="1" i="0">
                <a:solidFill>
                  <a:srgbClr val="1B5E20"/>
                </a:solidFill>
                <a:latin typeface="Calibri"/>
              </a:defRPr>
            </a:pPr>
            <a:r>
              <a:t>Crop Risk Model</a:t>
            </a:r>
          </a:p>
        </p:txBody>
      </p:sp>
      <p:sp>
        <p:nvSpPr>
          <p:cNvPr id="23" name="TextBox 22"/>
          <p:cNvSpPr txBox="1"/>
          <p:nvPr/>
        </p:nvSpPr>
        <p:spPr>
          <a:xfrm>
            <a:off x="8183880" y="3291840"/>
            <a:ext cx="3337560" cy="1188720"/>
          </a:xfrm>
          <a:prstGeom prst="rect">
            <a:avLst/>
          </a:prstGeom>
          <a:noFill/>
        </p:spPr>
        <p:txBody>
          <a:bodyPr wrap="square">
            <a:spAutoFit/>
          </a:bodyPr>
          <a:lstStyle/>
          <a:p>
            <a:pPr algn="l">
              <a:defRPr sz="1100" b="0" i="0">
                <a:solidFill>
                  <a:srgbClr val="333333"/>
                </a:solidFill>
                <a:latin typeface="Calibri"/>
              </a:defRPr>
            </a:pPr>
            <a:r>
              <a:t>LightGBM + GDD/VPD/DSI</a:t>
            </a:r>
            <a:br/>
            <a:r>
              <a:t>physics features, 87.4% acc,</a:t>
            </a:r>
            <a:br/>
            <a:r>
              <a:t>focal-loss class weighting</a:t>
            </a:r>
          </a:p>
        </p:txBody>
      </p:sp>
      <p:sp>
        <p:nvSpPr>
          <p:cNvPr id="24" name="Rounded Rectangle 23"/>
          <p:cNvSpPr/>
          <p:nvPr/>
        </p:nvSpPr>
        <p:spPr>
          <a:xfrm>
            <a:off x="457200" y="4663440"/>
            <a:ext cx="3611880" cy="1691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48640" y="4754880"/>
            <a:ext cx="64008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OBJ 4</a:t>
            </a:r>
          </a:p>
        </p:txBody>
      </p:sp>
      <p:sp>
        <p:nvSpPr>
          <p:cNvPr id="26" name="TextBox 25"/>
          <p:cNvSpPr txBox="1"/>
          <p:nvPr/>
        </p:nvSpPr>
        <p:spPr>
          <a:xfrm>
            <a:off x="1280160" y="4736592"/>
            <a:ext cx="2651760" cy="320040"/>
          </a:xfrm>
          <a:prstGeom prst="rect">
            <a:avLst/>
          </a:prstGeom>
          <a:noFill/>
        </p:spPr>
        <p:txBody>
          <a:bodyPr wrap="square">
            <a:spAutoFit/>
          </a:bodyPr>
          <a:lstStyle/>
          <a:p>
            <a:pPr algn="l">
              <a:defRPr sz="1300" b="1" i="0">
                <a:solidFill>
                  <a:srgbClr val="1B5E20"/>
                </a:solidFill>
                <a:latin typeface="Calibri"/>
              </a:defRPr>
            </a:pPr>
            <a:r>
              <a:t>Price Forecasting</a:t>
            </a:r>
          </a:p>
        </p:txBody>
      </p:sp>
      <p:sp>
        <p:nvSpPr>
          <p:cNvPr id="27" name="TextBox 26"/>
          <p:cNvSpPr txBox="1"/>
          <p:nvPr/>
        </p:nvSpPr>
        <p:spPr>
          <a:xfrm>
            <a:off x="594360" y="5120640"/>
            <a:ext cx="3337560" cy="1188720"/>
          </a:xfrm>
          <a:prstGeom prst="rect">
            <a:avLst/>
          </a:prstGeom>
          <a:noFill/>
        </p:spPr>
        <p:txBody>
          <a:bodyPr wrap="square">
            <a:spAutoFit/>
          </a:bodyPr>
          <a:lstStyle/>
          <a:p>
            <a:pPr algn="l">
              <a:defRPr sz="1100" b="0" i="0">
                <a:solidFill>
                  <a:srgbClr val="333333"/>
                </a:solidFill>
                <a:latin typeface="Calibri"/>
              </a:defRPr>
            </a:pPr>
            <a:r>
              <a:t>5-horizon LightGBM, R2=0.93,</a:t>
            </a:r>
            <a:br/>
            <a:r>
              <a:t>conformal prediction intervals</a:t>
            </a:r>
            <a:br/>
            <a:r>
              <a:t>at 80/90/95% confidence</a:t>
            </a:r>
          </a:p>
        </p:txBody>
      </p:sp>
      <p:sp>
        <p:nvSpPr>
          <p:cNvPr id="28" name="Rounded Rectangle 27"/>
          <p:cNvSpPr/>
          <p:nvPr/>
        </p:nvSpPr>
        <p:spPr>
          <a:xfrm>
            <a:off x="4251960" y="4663440"/>
            <a:ext cx="3611880" cy="1691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343400" y="4754880"/>
            <a:ext cx="64008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OBJ 5</a:t>
            </a:r>
          </a:p>
        </p:txBody>
      </p:sp>
      <p:sp>
        <p:nvSpPr>
          <p:cNvPr id="30" name="TextBox 29"/>
          <p:cNvSpPr txBox="1"/>
          <p:nvPr/>
        </p:nvSpPr>
        <p:spPr>
          <a:xfrm>
            <a:off x="5074920" y="4736592"/>
            <a:ext cx="2651760" cy="320040"/>
          </a:xfrm>
          <a:prstGeom prst="rect">
            <a:avLst/>
          </a:prstGeom>
          <a:noFill/>
        </p:spPr>
        <p:txBody>
          <a:bodyPr wrap="square">
            <a:spAutoFit/>
          </a:bodyPr>
          <a:lstStyle/>
          <a:p>
            <a:pPr algn="l">
              <a:defRPr sz="1300" b="1" i="0">
                <a:solidFill>
                  <a:srgbClr val="1B5E20"/>
                </a:solidFill>
                <a:latin typeface="Calibri"/>
              </a:defRPr>
            </a:pPr>
            <a:r>
              <a:t>Web Application</a:t>
            </a:r>
          </a:p>
        </p:txBody>
      </p:sp>
      <p:sp>
        <p:nvSpPr>
          <p:cNvPr id="31" name="TextBox 30"/>
          <p:cNvSpPr txBox="1"/>
          <p:nvPr/>
        </p:nvSpPr>
        <p:spPr>
          <a:xfrm>
            <a:off x="4389120" y="5120640"/>
            <a:ext cx="3337560" cy="1188720"/>
          </a:xfrm>
          <a:prstGeom prst="rect">
            <a:avLst/>
          </a:prstGeom>
          <a:noFill/>
        </p:spPr>
        <p:txBody>
          <a:bodyPr wrap="square">
            <a:spAutoFit/>
          </a:bodyPr>
          <a:lstStyle/>
          <a:p>
            <a:pPr algn="l">
              <a:defRPr sz="1100" b="0" i="0">
                <a:solidFill>
                  <a:srgbClr val="333333"/>
                </a:solidFill>
                <a:latin typeface="Calibri"/>
              </a:defRPr>
            </a:pPr>
            <a:r>
              <a:t>Next.js 14 + FastAPI + Supabase</a:t>
            </a:r>
            <a:br/>
            <a:r>
              <a:t>3 role-based dashboards,</a:t>
            </a:r>
            <a:br/>
            <a:r>
              <a:t>modern UI with animations</a:t>
            </a:r>
          </a:p>
        </p:txBody>
      </p:sp>
      <p:sp>
        <p:nvSpPr>
          <p:cNvPr id="32" name="Rounded Rectangle 31"/>
          <p:cNvSpPr/>
          <p:nvPr/>
        </p:nvSpPr>
        <p:spPr>
          <a:xfrm>
            <a:off x="8046720" y="4663440"/>
            <a:ext cx="3611880" cy="16916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138160" y="4754880"/>
            <a:ext cx="64008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OBJ 6</a:t>
            </a:r>
          </a:p>
        </p:txBody>
      </p:sp>
      <p:sp>
        <p:nvSpPr>
          <p:cNvPr id="34" name="TextBox 33"/>
          <p:cNvSpPr txBox="1"/>
          <p:nvPr/>
        </p:nvSpPr>
        <p:spPr>
          <a:xfrm>
            <a:off x="8869680" y="4736592"/>
            <a:ext cx="2651760" cy="320040"/>
          </a:xfrm>
          <a:prstGeom prst="rect">
            <a:avLst/>
          </a:prstGeom>
          <a:noFill/>
        </p:spPr>
        <p:txBody>
          <a:bodyPr wrap="square">
            <a:spAutoFit/>
          </a:bodyPr>
          <a:lstStyle/>
          <a:p>
            <a:pPr algn="l">
              <a:defRPr sz="1300" b="1" i="0">
                <a:solidFill>
                  <a:srgbClr val="1B5E20"/>
                </a:solidFill>
                <a:latin typeface="Calibri"/>
              </a:defRPr>
            </a:pPr>
            <a:r>
              <a:t>Vet Services</a:t>
            </a:r>
          </a:p>
        </p:txBody>
      </p:sp>
      <p:sp>
        <p:nvSpPr>
          <p:cNvPr id="35" name="TextBox 34"/>
          <p:cNvSpPr txBox="1"/>
          <p:nvPr/>
        </p:nvSpPr>
        <p:spPr>
          <a:xfrm>
            <a:off x="8183880" y="5120640"/>
            <a:ext cx="3337560" cy="1188720"/>
          </a:xfrm>
          <a:prstGeom prst="rect">
            <a:avLst/>
          </a:prstGeom>
          <a:noFill/>
        </p:spPr>
        <p:txBody>
          <a:bodyPr wrap="square">
            <a:spAutoFit/>
          </a:bodyPr>
          <a:lstStyle/>
          <a:p>
            <a:pPr algn="l">
              <a:defRPr sz="1100" b="0" i="0">
                <a:solidFill>
                  <a:srgbClr val="333333"/>
                </a:solidFill>
                <a:latin typeface="Calibri"/>
              </a:defRPr>
            </a:pPr>
            <a:r>
              <a:t>15 API endpoints, doctor</a:t>
            </a:r>
            <a:br/>
            <a:r>
              <a:t>verification, booking, and</a:t>
            </a:r>
            <a:br/>
            <a:r>
              <a:t>emergency SOS (FCFS)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Scope of the Project</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5/13</a:t>
            </a:r>
          </a:p>
        </p:txBody>
      </p:sp>
      <p:pic>
        <p:nvPicPr>
          <p:cNvPr id="8" name="Picture 7" descr="scope_diagram.png"/>
          <p:cNvPicPr>
            <a:picLocks noChangeAspect="1"/>
          </p:cNvPicPr>
          <p:nvPr/>
        </p:nvPicPr>
        <p:blipFill>
          <a:blip r:embed="rId3"/>
          <a:stretch>
            <a:fillRect/>
          </a:stretch>
        </p:blipFill>
        <p:spPr>
          <a:xfrm>
            <a:off x="365760" y="1097280"/>
            <a:ext cx="5943600" cy="4576928"/>
          </a:xfrm>
          <a:prstGeom prst="rect">
            <a:avLst/>
          </a:prstGeom>
        </p:spPr>
      </p:pic>
      <p:sp>
        <p:nvSpPr>
          <p:cNvPr id="9" name="TextBox 8"/>
          <p:cNvSpPr txBox="1"/>
          <p:nvPr/>
        </p:nvSpPr>
        <p:spPr>
          <a:xfrm>
            <a:off x="365760" y="5943600"/>
            <a:ext cx="5943600" cy="274320"/>
          </a:xfrm>
          <a:prstGeom prst="rect">
            <a:avLst/>
          </a:prstGeom>
          <a:noFill/>
        </p:spPr>
        <p:txBody>
          <a:bodyPr wrap="square">
            <a:spAutoFit/>
          </a:bodyPr>
          <a:lstStyle/>
          <a:p>
            <a:pPr algn="ctr">
              <a:defRPr sz="1000" b="0" i="1">
                <a:solidFill>
                  <a:srgbClr val="666666"/>
                </a:solidFill>
                <a:latin typeface="Calibri"/>
              </a:defRPr>
            </a:pPr>
            <a:r>
              <a:t>Fig: In-Scope vs Out-of-Scope Features</a:t>
            </a:r>
          </a:p>
        </p:txBody>
      </p:sp>
      <p:sp>
        <p:nvSpPr>
          <p:cNvPr id="10" name="TextBox 9"/>
          <p:cNvSpPr txBox="1"/>
          <p:nvPr/>
        </p:nvSpPr>
        <p:spPr>
          <a:xfrm>
            <a:off x="6583680" y="1097280"/>
            <a:ext cx="5029200" cy="320040"/>
          </a:xfrm>
          <a:prstGeom prst="rect">
            <a:avLst/>
          </a:prstGeom>
          <a:noFill/>
        </p:spPr>
        <p:txBody>
          <a:bodyPr wrap="square">
            <a:spAutoFit/>
          </a:bodyPr>
          <a:lstStyle/>
          <a:p>
            <a:pPr algn="l">
              <a:defRPr sz="1400" b="1" i="0">
                <a:solidFill>
                  <a:srgbClr val="2E7D32"/>
                </a:solidFill>
                <a:latin typeface="Calibri"/>
              </a:defRPr>
            </a:pPr>
            <a:r>
              <a:t>IN SCOPE</a:t>
            </a:r>
          </a:p>
        </p:txBody>
      </p:sp>
      <p:sp>
        <p:nvSpPr>
          <p:cNvPr id="11" name="TextBox 10"/>
          <p:cNvSpPr txBox="1"/>
          <p:nvPr/>
        </p:nvSpPr>
        <p:spPr>
          <a:xfrm>
            <a:off x="6583680" y="1463040"/>
            <a:ext cx="5303520" cy="2286000"/>
          </a:xfrm>
          <a:prstGeom prst="rect">
            <a:avLst/>
          </a:prstGeom>
          <a:noFill/>
        </p:spPr>
        <p:txBody>
          <a:bodyPr wrap="square">
            <a:spAutoFit/>
          </a:bodyPr>
          <a:lstStyle/>
          <a:p>
            <a:pPr algn="l">
              <a:lnSpc>
                <a:spcPts val="1560"/>
              </a:lnSpc>
              <a:spcAft>
                <a:spcPts val="480"/>
              </a:spcAft>
              <a:defRPr sz="1200" b="0">
                <a:solidFill>
                  <a:srgbClr val="333333"/>
                </a:solidFill>
                <a:latin typeface="Calibri"/>
              </a:defRPr>
            </a:pPr>
            <a:r>
              <a:t>✅  Maharashtra state (36 districts, 400+ mandis)</a:t>
            </a:r>
          </a:p>
          <a:p>
            <a:pPr algn="l">
              <a:lnSpc>
                <a:spcPts val="1560"/>
              </a:lnSpc>
              <a:spcAft>
                <a:spcPts val="480"/>
              </a:spcAft>
              <a:defRPr sz="1200" b="0">
                <a:solidFill>
                  <a:srgbClr val="333333"/>
                </a:solidFill>
                <a:latin typeface="Calibri"/>
              </a:defRPr>
            </a:pPr>
            <a:r>
              <a:t>✅  3 User Roles: Farmer, Doctor, Admin</a:t>
            </a:r>
          </a:p>
          <a:p>
            <a:pPr algn="l">
              <a:lnSpc>
                <a:spcPts val="1560"/>
              </a:lnSpc>
              <a:spcAft>
                <a:spcPts val="480"/>
              </a:spcAft>
              <a:defRPr sz="1200" b="0">
                <a:solidFill>
                  <a:srgbClr val="333333"/>
                </a:solidFill>
                <a:latin typeface="Calibri"/>
              </a:defRPr>
            </a:pPr>
            <a:r>
              <a:t>✅  ML: Crop Risk Advisory + Price Forecasting</a:t>
            </a:r>
          </a:p>
          <a:p>
            <a:pPr algn="l">
              <a:lnSpc>
                <a:spcPts val="1560"/>
              </a:lnSpc>
              <a:spcAft>
                <a:spcPts val="480"/>
              </a:spcAft>
              <a:defRPr sz="1200" b="0">
                <a:solidFill>
                  <a:srgbClr val="333333"/>
                </a:solidFill>
                <a:latin typeface="Calibri"/>
              </a:defRPr>
            </a:pPr>
            <a:r>
              <a:t>✅  Vet: Verification, Booking, Emergency SOS</a:t>
            </a:r>
          </a:p>
          <a:p>
            <a:pPr algn="l">
              <a:lnSpc>
                <a:spcPts val="1560"/>
              </a:lnSpc>
              <a:spcAft>
                <a:spcPts val="480"/>
              </a:spcAft>
              <a:defRPr sz="1200" b="0">
                <a:solidFill>
                  <a:srgbClr val="333333"/>
                </a:solidFill>
                <a:latin typeface="Calibri"/>
              </a:defRPr>
            </a:pPr>
            <a:r>
              <a:t>✅  6.1M mandi records + 10 years weather data</a:t>
            </a:r>
          </a:p>
          <a:p>
            <a:pPr algn="l">
              <a:lnSpc>
                <a:spcPts val="1560"/>
              </a:lnSpc>
              <a:spcAft>
                <a:spcPts val="480"/>
              </a:spcAft>
              <a:defRPr sz="1200" b="0">
                <a:solidFill>
                  <a:srgbClr val="333333"/>
                </a:solidFill>
                <a:latin typeface="Calibri"/>
              </a:defRPr>
            </a:pPr>
            <a:r>
              <a:t>✅  Full-stack web app (Next.js + FastAPI + Supabase)</a:t>
            </a:r>
          </a:p>
        </p:txBody>
      </p:sp>
      <p:sp>
        <p:nvSpPr>
          <p:cNvPr id="12" name="TextBox 11"/>
          <p:cNvSpPr txBox="1"/>
          <p:nvPr/>
        </p:nvSpPr>
        <p:spPr>
          <a:xfrm>
            <a:off x="6583680" y="3840480"/>
            <a:ext cx="5029200" cy="320040"/>
          </a:xfrm>
          <a:prstGeom prst="rect">
            <a:avLst/>
          </a:prstGeom>
          <a:noFill/>
        </p:spPr>
        <p:txBody>
          <a:bodyPr wrap="square">
            <a:spAutoFit/>
          </a:bodyPr>
          <a:lstStyle/>
          <a:p>
            <a:pPr algn="l">
              <a:defRPr sz="1400" b="1" i="0">
                <a:solidFill>
                  <a:srgbClr val="C62828"/>
                </a:solidFill>
                <a:latin typeface="Calibri"/>
              </a:defRPr>
            </a:pPr>
            <a:r>
              <a:t>OUT OF SCOPE (Current Version)</a:t>
            </a:r>
          </a:p>
        </p:txBody>
      </p:sp>
      <p:sp>
        <p:nvSpPr>
          <p:cNvPr id="13" name="TextBox 12"/>
          <p:cNvSpPr txBox="1"/>
          <p:nvPr/>
        </p:nvSpPr>
        <p:spPr>
          <a:xfrm>
            <a:off x="6583680" y="4206240"/>
            <a:ext cx="5303520" cy="2286000"/>
          </a:xfrm>
          <a:prstGeom prst="rect">
            <a:avLst/>
          </a:prstGeom>
          <a:noFill/>
        </p:spPr>
        <p:txBody>
          <a:bodyPr wrap="square">
            <a:spAutoFit/>
          </a:bodyPr>
          <a:lstStyle/>
          <a:p>
            <a:pPr algn="l">
              <a:lnSpc>
                <a:spcPts val="1560"/>
              </a:lnSpc>
              <a:spcAft>
                <a:spcPts val="480"/>
              </a:spcAft>
              <a:defRPr sz="1200" b="0">
                <a:solidFill>
                  <a:srgbClr val="333333"/>
                </a:solidFill>
                <a:latin typeface="Calibri"/>
              </a:defRPr>
            </a:pPr>
            <a:r>
              <a:t>❌  Other Indian states (MH-only hard constraint)</a:t>
            </a:r>
          </a:p>
          <a:p>
            <a:pPr algn="l">
              <a:lnSpc>
                <a:spcPts val="1560"/>
              </a:lnSpc>
              <a:spcAft>
                <a:spcPts val="480"/>
              </a:spcAft>
              <a:defRPr sz="1200" b="0">
                <a:solidFill>
                  <a:srgbClr val="333333"/>
                </a:solidFill>
                <a:latin typeface="Calibri"/>
              </a:defRPr>
            </a:pPr>
            <a:r>
              <a:t>❌  Direct e-commerce / buy-sell of produce</a:t>
            </a:r>
          </a:p>
          <a:p>
            <a:pPr algn="l">
              <a:lnSpc>
                <a:spcPts val="1560"/>
              </a:lnSpc>
              <a:spcAft>
                <a:spcPts val="480"/>
              </a:spcAft>
              <a:defRPr sz="1200" b="0">
                <a:solidFill>
                  <a:srgbClr val="333333"/>
                </a:solidFill>
                <a:latin typeface="Calibri"/>
              </a:defRPr>
            </a:pPr>
            <a:r>
              <a:t>❌  Chatbot / conversational AI interface</a:t>
            </a:r>
          </a:p>
          <a:p>
            <a:pPr algn="l">
              <a:lnSpc>
                <a:spcPts val="1560"/>
              </a:lnSpc>
              <a:spcAft>
                <a:spcPts val="480"/>
              </a:spcAft>
              <a:defRPr sz="1200" b="0">
                <a:solidFill>
                  <a:srgbClr val="333333"/>
                </a:solidFill>
                <a:latin typeface="Calibri"/>
              </a:defRPr>
            </a:pPr>
            <a:r>
              <a:t>❌  Native mobile app (React Native planned)</a:t>
            </a:r>
          </a:p>
          <a:p>
            <a:pPr algn="l">
              <a:lnSpc>
                <a:spcPts val="1560"/>
              </a:lnSpc>
              <a:spcAft>
                <a:spcPts val="480"/>
              </a:spcAft>
              <a:defRPr sz="1200" b="0">
                <a:solidFill>
                  <a:srgbClr val="333333"/>
                </a:solidFill>
                <a:latin typeface="Calibri"/>
              </a:defRPr>
            </a:pPr>
            <a:r>
              <a:t>❌  Marathi language support (future Phase 2)</a:t>
            </a:r>
          </a:p>
          <a:p>
            <a:pPr algn="l">
              <a:lnSpc>
                <a:spcPts val="1560"/>
              </a:lnSpc>
              <a:spcAft>
                <a:spcPts val="480"/>
              </a:spcAft>
              <a:defRPr sz="1200" b="0">
                <a:solidFill>
                  <a:srgbClr val="333333"/>
                </a:solidFill>
                <a:latin typeface="Calibri"/>
              </a:defRPr>
            </a:pPr>
            <a:r>
              <a:t>❌  Pesticide / fertilizer 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Feasibility Analysis</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6/13</a:t>
            </a:r>
          </a:p>
        </p:txBody>
      </p:sp>
      <p:sp>
        <p:nvSpPr>
          <p:cNvPr id="8" name="Rounded Rectangle 7"/>
          <p:cNvSpPr/>
          <p:nvPr/>
        </p:nvSpPr>
        <p:spPr>
          <a:xfrm>
            <a:off x="457200" y="1097280"/>
            <a:ext cx="5577840" cy="2560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097280"/>
            <a:ext cx="5577840"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34440"/>
            <a:ext cx="5212080" cy="365760"/>
          </a:xfrm>
          <a:prstGeom prst="rect">
            <a:avLst/>
          </a:prstGeom>
          <a:noFill/>
        </p:spPr>
        <p:txBody>
          <a:bodyPr wrap="square">
            <a:spAutoFit/>
          </a:bodyPr>
          <a:lstStyle/>
          <a:p>
            <a:pPr algn="l">
              <a:defRPr sz="1500" b="1" i="0">
                <a:solidFill>
                  <a:srgbClr val="2E7D32"/>
                </a:solidFill>
                <a:latin typeface="Calibri"/>
              </a:defRPr>
            </a:pPr>
            <a:r>
              <a:t>Technical Feasibility</a:t>
            </a:r>
          </a:p>
        </p:txBody>
      </p:sp>
      <p:sp>
        <p:nvSpPr>
          <p:cNvPr id="11" name="TextBox 10"/>
          <p:cNvSpPr txBox="1"/>
          <p:nvPr/>
        </p:nvSpPr>
        <p:spPr>
          <a:xfrm>
            <a:off x="731520" y="1645920"/>
            <a:ext cx="5120640" cy="365760"/>
          </a:xfrm>
          <a:prstGeom prst="rect">
            <a:avLst/>
          </a:prstGeom>
          <a:noFill/>
        </p:spPr>
        <p:txBody>
          <a:bodyPr wrap="square">
            <a:spAutoFit/>
          </a:bodyPr>
          <a:lstStyle/>
          <a:p>
            <a:pPr algn="l">
              <a:defRPr sz="1100" b="0" i="0">
                <a:solidFill>
                  <a:srgbClr val="333333"/>
                </a:solidFill>
                <a:latin typeface="Calibri"/>
              </a:defRPr>
            </a:pPr>
            <a:r>
              <a:t>●  Python 3.10+ / Node.js 18+ (mature, well-supported)</a:t>
            </a:r>
          </a:p>
        </p:txBody>
      </p:sp>
      <p:sp>
        <p:nvSpPr>
          <p:cNvPr id="12" name="TextBox 11"/>
          <p:cNvSpPr txBox="1"/>
          <p:nvPr/>
        </p:nvSpPr>
        <p:spPr>
          <a:xfrm>
            <a:off x="731520" y="2029968"/>
            <a:ext cx="5120640" cy="365760"/>
          </a:xfrm>
          <a:prstGeom prst="rect">
            <a:avLst/>
          </a:prstGeom>
          <a:noFill/>
        </p:spPr>
        <p:txBody>
          <a:bodyPr wrap="square">
            <a:spAutoFit/>
          </a:bodyPr>
          <a:lstStyle/>
          <a:p>
            <a:pPr algn="l">
              <a:defRPr sz="1100" b="0" i="0">
                <a:solidFill>
                  <a:srgbClr val="333333"/>
                </a:solidFill>
                <a:latin typeface="Calibri"/>
              </a:defRPr>
            </a:pPr>
            <a:r>
              <a:t>●  LightGBM: NeurIPS-published, proven on tabular data</a:t>
            </a:r>
          </a:p>
        </p:txBody>
      </p:sp>
      <p:sp>
        <p:nvSpPr>
          <p:cNvPr id="13" name="TextBox 12"/>
          <p:cNvSpPr txBox="1"/>
          <p:nvPr/>
        </p:nvSpPr>
        <p:spPr>
          <a:xfrm>
            <a:off x="731520" y="2414016"/>
            <a:ext cx="5120640" cy="365760"/>
          </a:xfrm>
          <a:prstGeom prst="rect">
            <a:avLst/>
          </a:prstGeom>
          <a:noFill/>
        </p:spPr>
        <p:txBody>
          <a:bodyPr wrap="square">
            <a:spAutoFit/>
          </a:bodyPr>
          <a:lstStyle/>
          <a:p>
            <a:pPr algn="l">
              <a:defRPr sz="1100" b="0" i="0">
                <a:solidFill>
                  <a:srgbClr val="333333"/>
                </a:solidFill>
                <a:latin typeface="Calibri"/>
              </a:defRPr>
            </a:pPr>
            <a:r>
              <a:t>●  AGMARKNET open API + Kaggle: data freely available</a:t>
            </a:r>
          </a:p>
        </p:txBody>
      </p:sp>
      <p:sp>
        <p:nvSpPr>
          <p:cNvPr id="14" name="TextBox 13"/>
          <p:cNvSpPr txBox="1"/>
          <p:nvPr/>
        </p:nvSpPr>
        <p:spPr>
          <a:xfrm>
            <a:off x="731520" y="2798064"/>
            <a:ext cx="5120640" cy="365760"/>
          </a:xfrm>
          <a:prstGeom prst="rect">
            <a:avLst/>
          </a:prstGeom>
          <a:noFill/>
        </p:spPr>
        <p:txBody>
          <a:bodyPr wrap="square">
            <a:spAutoFit/>
          </a:bodyPr>
          <a:lstStyle/>
          <a:p>
            <a:pPr algn="l">
              <a:defRPr sz="1100" b="0" i="0">
                <a:solidFill>
                  <a:srgbClr val="333333"/>
                </a:solidFill>
                <a:latin typeface="Calibri"/>
              </a:defRPr>
            </a:pPr>
            <a:r>
              <a:t>●  Supabase: managed PostgreSQL + Auth + Storage</a:t>
            </a:r>
          </a:p>
        </p:txBody>
      </p:sp>
      <p:sp>
        <p:nvSpPr>
          <p:cNvPr id="15" name="Rounded Rectangle 14"/>
          <p:cNvSpPr/>
          <p:nvPr/>
        </p:nvSpPr>
        <p:spPr>
          <a:xfrm>
            <a:off x="6263640" y="1097280"/>
            <a:ext cx="5577840" cy="2560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63640" y="1097280"/>
            <a:ext cx="5577840" cy="5486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1234440"/>
            <a:ext cx="5212080" cy="365760"/>
          </a:xfrm>
          <a:prstGeom prst="rect">
            <a:avLst/>
          </a:prstGeom>
          <a:noFill/>
        </p:spPr>
        <p:txBody>
          <a:bodyPr wrap="square">
            <a:spAutoFit/>
          </a:bodyPr>
          <a:lstStyle/>
          <a:p>
            <a:pPr algn="l">
              <a:defRPr sz="1500" b="1" i="0">
                <a:solidFill>
                  <a:srgbClr val="1565C0"/>
                </a:solidFill>
                <a:latin typeface="Calibri"/>
              </a:defRPr>
            </a:pPr>
            <a:r>
              <a:t>Financial Feasibility</a:t>
            </a:r>
          </a:p>
        </p:txBody>
      </p:sp>
      <p:sp>
        <p:nvSpPr>
          <p:cNvPr id="18" name="TextBox 17"/>
          <p:cNvSpPr txBox="1"/>
          <p:nvPr/>
        </p:nvSpPr>
        <p:spPr>
          <a:xfrm>
            <a:off x="6537960" y="1645920"/>
            <a:ext cx="5120640" cy="365760"/>
          </a:xfrm>
          <a:prstGeom prst="rect">
            <a:avLst/>
          </a:prstGeom>
          <a:noFill/>
        </p:spPr>
        <p:txBody>
          <a:bodyPr wrap="square">
            <a:spAutoFit/>
          </a:bodyPr>
          <a:lstStyle/>
          <a:p>
            <a:pPr algn="l">
              <a:defRPr sz="1100" b="0" i="0">
                <a:solidFill>
                  <a:srgbClr val="333333"/>
                </a:solidFill>
                <a:latin typeface="Calibri"/>
              </a:defRPr>
            </a:pPr>
            <a:r>
              <a:t>●  Development Cost: Rs 0 (all open-source tools)</a:t>
            </a:r>
          </a:p>
        </p:txBody>
      </p:sp>
      <p:sp>
        <p:nvSpPr>
          <p:cNvPr id="19" name="TextBox 18"/>
          <p:cNvSpPr txBox="1"/>
          <p:nvPr/>
        </p:nvSpPr>
        <p:spPr>
          <a:xfrm>
            <a:off x="6537960" y="2029968"/>
            <a:ext cx="5120640" cy="365760"/>
          </a:xfrm>
          <a:prstGeom prst="rect">
            <a:avLst/>
          </a:prstGeom>
          <a:noFill/>
        </p:spPr>
        <p:txBody>
          <a:bodyPr wrap="square">
            <a:spAutoFit/>
          </a:bodyPr>
          <a:lstStyle/>
          <a:p>
            <a:pPr algn="l">
              <a:defRPr sz="1100" b="0" i="0">
                <a:solidFill>
                  <a:srgbClr val="333333"/>
                </a:solidFill>
                <a:latin typeface="Calibri"/>
              </a:defRPr>
            </a:pPr>
            <a:r>
              <a:t>●  Production Cost: ~Rs 6,800/yr (VPS + domain)</a:t>
            </a:r>
          </a:p>
        </p:txBody>
      </p:sp>
      <p:sp>
        <p:nvSpPr>
          <p:cNvPr id="20" name="TextBox 19"/>
          <p:cNvSpPr txBox="1"/>
          <p:nvPr/>
        </p:nvSpPr>
        <p:spPr>
          <a:xfrm>
            <a:off x="6537960" y="2414016"/>
            <a:ext cx="5120640" cy="365760"/>
          </a:xfrm>
          <a:prstGeom prst="rect">
            <a:avLst/>
          </a:prstGeom>
          <a:noFill/>
        </p:spPr>
        <p:txBody>
          <a:bodyPr wrap="square">
            <a:spAutoFit/>
          </a:bodyPr>
          <a:lstStyle/>
          <a:p>
            <a:pPr algn="l">
              <a:defRPr sz="1100" b="0" i="0">
                <a:solidFill>
                  <a:srgbClr val="333333"/>
                </a:solidFill>
                <a:latin typeface="Calibri"/>
              </a:defRPr>
            </a:pPr>
            <a:r>
              <a:t>●  Supabase Free Tier: 500MB DB, 1GB storage</a:t>
            </a:r>
          </a:p>
        </p:txBody>
      </p:sp>
      <p:sp>
        <p:nvSpPr>
          <p:cNvPr id="21" name="TextBox 20"/>
          <p:cNvSpPr txBox="1"/>
          <p:nvPr/>
        </p:nvSpPr>
        <p:spPr>
          <a:xfrm>
            <a:off x="6537960" y="2798064"/>
            <a:ext cx="5120640" cy="365760"/>
          </a:xfrm>
          <a:prstGeom prst="rect">
            <a:avLst/>
          </a:prstGeom>
          <a:noFill/>
        </p:spPr>
        <p:txBody>
          <a:bodyPr wrap="square">
            <a:spAutoFit/>
          </a:bodyPr>
          <a:lstStyle/>
          <a:p>
            <a:pPr algn="l">
              <a:defRPr sz="1100" b="0" i="0">
                <a:solidFill>
                  <a:srgbClr val="333333"/>
                </a:solidFill>
                <a:latin typeface="Calibri"/>
              </a:defRPr>
            </a:pPr>
            <a:r>
              <a:t>●  Vercel Free Tier: Next.js hosting included</a:t>
            </a:r>
          </a:p>
        </p:txBody>
      </p:sp>
      <p:sp>
        <p:nvSpPr>
          <p:cNvPr id="22" name="Rounded Rectangle 21"/>
          <p:cNvSpPr/>
          <p:nvPr/>
        </p:nvSpPr>
        <p:spPr>
          <a:xfrm>
            <a:off x="457200" y="3840480"/>
            <a:ext cx="5577840" cy="2560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57200" y="3840480"/>
            <a:ext cx="5577840" cy="54864"/>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3977640"/>
            <a:ext cx="5212080" cy="365760"/>
          </a:xfrm>
          <a:prstGeom prst="rect">
            <a:avLst/>
          </a:prstGeom>
          <a:noFill/>
        </p:spPr>
        <p:txBody>
          <a:bodyPr wrap="square">
            <a:spAutoFit/>
          </a:bodyPr>
          <a:lstStyle/>
          <a:p>
            <a:pPr algn="l">
              <a:defRPr sz="1500" b="1" i="0">
                <a:solidFill>
                  <a:srgbClr val="E65100"/>
                </a:solidFill>
                <a:latin typeface="Calibri"/>
              </a:defRPr>
            </a:pPr>
            <a:r>
              <a:t>Operational Feasibility</a:t>
            </a:r>
          </a:p>
        </p:txBody>
      </p:sp>
      <p:sp>
        <p:nvSpPr>
          <p:cNvPr id="25" name="TextBox 24"/>
          <p:cNvSpPr txBox="1"/>
          <p:nvPr/>
        </p:nvSpPr>
        <p:spPr>
          <a:xfrm>
            <a:off x="731520" y="4389120"/>
            <a:ext cx="5120640" cy="365760"/>
          </a:xfrm>
          <a:prstGeom prst="rect">
            <a:avLst/>
          </a:prstGeom>
          <a:noFill/>
        </p:spPr>
        <p:txBody>
          <a:bodyPr wrap="square">
            <a:spAutoFit/>
          </a:bodyPr>
          <a:lstStyle/>
          <a:p>
            <a:pPr algn="l">
              <a:defRPr sz="1100" b="0" i="0">
                <a:solidFill>
                  <a:srgbClr val="333333"/>
                </a:solidFill>
                <a:latin typeface="Calibri"/>
              </a:defRPr>
            </a:pPr>
            <a:r>
              <a:t>●  Target users: smartphone-owning MH farmers</a:t>
            </a:r>
          </a:p>
        </p:txBody>
      </p:sp>
      <p:sp>
        <p:nvSpPr>
          <p:cNvPr id="26" name="TextBox 25"/>
          <p:cNvSpPr txBox="1"/>
          <p:nvPr/>
        </p:nvSpPr>
        <p:spPr>
          <a:xfrm>
            <a:off x="731520" y="4773168"/>
            <a:ext cx="5120640" cy="365760"/>
          </a:xfrm>
          <a:prstGeom prst="rect">
            <a:avLst/>
          </a:prstGeom>
          <a:noFill/>
        </p:spPr>
        <p:txBody>
          <a:bodyPr wrap="square">
            <a:spAutoFit/>
          </a:bodyPr>
          <a:lstStyle/>
          <a:p>
            <a:pPr algn="l">
              <a:defRPr sz="1100" b="0" i="0">
                <a:solidFill>
                  <a:srgbClr val="333333"/>
                </a:solidFill>
                <a:latin typeface="Calibri"/>
              </a:defRPr>
            </a:pPr>
            <a:r>
              <a:t>●  Simple web UI, no training needed for farmers</a:t>
            </a:r>
          </a:p>
        </p:txBody>
      </p:sp>
      <p:sp>
        <p:nvSpPr>
          <p:cNvPr id="27" name="TextBox 26"/>
          <p:cNvSpPr txBox="1"/>
          <p:nvPr/>
        </p:nvSpPr>
        <p:spPr>
          <a:xfrm>
            <a:off x="731520" y="5157216"/>
            <a:ext cx="5120640" cy="365760"/>
          </a:xfrm>
          <a:prstGeom prst="rect">
            <a:avLst/>
          </a:prstGeom>
          <a:noFill/>
        </p:spPr>
        <p:txBody>
          <a:bodyPr wrap="square">
            <a:spAutoFit/>
          </a:bodyPr>
          <a:lstStyle/>
          <a:p>
            <a:pPr algn="l">
              <a:defRPr sz="1100" b="0" i="0">
                <a:solidFill>
                  <a:srgbClr val="333333"/>
                </a:solidFill>
                <a:latin typeface="Calibri"/>
              </a:defRPr>
            </a:pPr>
            <a:r>
              <a:t>●  Admin verification ensures doctor quality</a:t>
            </a:r>
          </a:p>
        </p:txBody>
      </p:sp>
      <p:sp>
        <p:nvSpPr>
          <p:cNvPr id="28" name="TextBox 27"/>
          <p:cNvSpPr txBox="1"/>
          <p:nvPr/>
        </p:nvSpPr>
        <p:spPr>
          <a:xfrm>
            <a:off x="731520" y="5541264"/>
            <a:ext cx="5120640" cy="365760"/>
          </a:xfrm>
          <a:prstGeom prst="rect">
            <a:avLst/>
          </a:prstGeom>
          <a:noFill/>
        </p:spPr>
        <p:txBody>
          <a:bodyPr wrap="square">
            <a:spAutoFit/>
          </a:bodyPr>
          <a:lstStyle/>
          <a:p>
            <a:pPr algn="l">
              <a:defRPr sz="1100" b="0" i="0">
                <a:solidFill>
                  <a:srgbClr val="333333"/>
                </a:solidFill>
                <a:latin typeface="Calibri"/>
              </a:defRPr>
            </a:pPr>
            <a:r>
              <a:t>●  SOS is single-tap emergency broadcast</a:t>
            </a:r>
          </a:p>
        </p:txBody>
      </p:sp>
      <p:sp>
        <p:nvSpPr>
          <p:cNvPr id="29" name="Rounded Rectangle 28"/>
          <p:cNvSpPr/>
          <p:nvPr/>
        </p:nvSpPr>
        <p:spPr>
          <a:xfrm>
            <a:off x="6263640" y="3840480"/>
            <a:ext cx="5577840" cy="256032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63640" y="3840480"/>
            <a:ext cx="5577840" cy="54864"/>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3977640"/>
            <a:ext cx="5212080" cy="365760"/>
          </a:xfrm>
          <a:prstGeom prst="rect">
            <a:avLst/>
          </a:prstGeom>
          <a:noFill/>
        </p:spPr>
        <p:txBody>
          <a:bodyPr wrap="square">
            <a:spAutoFit/>
          </a:bodyPr>
          <a:lstStyle/>
          <a:p>
            <a:pPr algn="l">
              <a:defRPr sz="1500" b="1" i="0">
                <a:solidFill>
                  <a:srgbClr val="6A1B9A"/>
                </a:solidFill>
                <a:latin typeface="Calibri"/>
              </a:defRPr>
            </a:pPr>
            <a:r>
              <a:t>Schedule Feasibility</a:t>
            </a:r>
          </a:p>
        </p:txBody>
      </p:sp>
      <p:sp>
        <p:nvSpPr>
          <p:cNvPr id="32" name="TextBox 31"/>
          <p:cNvSpPr txBox="1"/>
          <p:nvPr/>
        </p:nvSpPr>
        <p:spPr>
          <a:xfrm>
            <a:off x="6537960" y="4389120"/>
            <a:ext cx="5120640" cy="365760"/>
          </a:xfrm>
          <a:prstGeom prst="rect">
            <a:avLst/>
          </a:prstGeom>
          <a:noFill/>
        </p:spPr>
        <p:txBody>
          <a:bodyPr wrap="square">
            <a:spAutoFit/>
          </a:bodyPr>
          <a:lstStyle/>
          <a:p>
            <a:pPr algn="l">
              <a:defRPr sz="1100" b="0" i="0">
                <a:solidFill>
                  <a:srgbClr val="333333"/>
                </a:solidFill>
                <a:latin typeface="Calibri"/>
              </a:defRPr>
            </a:pPr>
            <a:r>
              <a:t>●  Phase 1: Data Pipeline (4 weeks) - DONE</a:t>
            </a:r>
          </a:p>
        </p:txBody>
      </p:sp>
      <p:sp>
        <p:nvSpPr>
          <p:cNvPr id="33" name="TextBox 32"/>
          <p:cNvSpPr txBox="1"/>
          <p:nvPr/>
        </p:nvSpPr>
        <p:spPr>
          <a:xfrm>
            <a:off x="6537960" y="4773168"/>
            <a:ext cx="5120640" cy="365760"/>
          </a:xfrm>
          <a:prstGeom prst="rect">
            <a:avLst/>
          </a:prstGeom>
          <a:noFill/>
        </p:spPr>
        <p:txBody>
          <a:bodyPr wrap="square">
            <a:spAutoFit/>
          </a:bodyPr>
          <a:lstStyle/>
          <a:p>
            <a:pPr algn="l">
              <a:defRPr sz="1100" b="0" i="0">
                <a:solidFill>
                  <a:srgbClr val="333333"/>
                </a:solidFill>
                <a:latin typeface="Calibri"/>
              </a:defRPr>
            </a:pPr>
            <a:r>
              <a:t>●  Phase 2: ML Development (3 weeks) - DONE</a:t>
            </a:r>
          </a:p>
        </p:txBody>
      </p:sp>
      <p:sp>
        <p:nvSpPr>
          <p:cNvPr id="34" name="TextBox 33"/>
          <p:cNvSpPr txBox="1"/>
          <p:nvPr/>
        </p:nvSpPr>
        <p:spPr>
          <a:xfrm>
            <a:off x="6537960" y="5157216"/>
            <a:ext cx="5120640" cy="365760"/>
          </a:xfrm>
          <a:prstGeom prst="rect">
            <a:avLst/>
          </a:prstGeom>
          <a:noFill/>
        </p:spPr>
        <p:txBody>
          <a:bodyPr wrap="square">
            <a:spAutoFit/>
          </a:bodyPr>
          <a:lstStyle/>
          <a:p>
            <a:pPr algn="l">
              <a:defRPr sz="1100" b="0" i="0">
                <a:solidFill>
                  <a:srgbClr val="333333"/>
                </a:solidFill>
                <a:latin typeface="Calibri"/>
              </a:defRPr>
            </a:pPr>
            <a:r>
              <a:t>●  Phase 3: Web App (4 weeks) - DONE</a:t>
            </a:r>
          </a:p>
        </p:txBody>
      </p:sp>
      <p:sp>
        <p:nvSpPr>
          <p:cNvPr id="35" name="TextBox 34"/>
          <p:cNvSpPr txBox="1"/>
          <p:nvPr/>
        </p:nvSpPr>
        <p:spPr>
          <a:xfrm>
            <a:off x="6537960" y="5541264"/>
            <a:ext cx="5120640" cy="365760"/>
          </a:xfrm>
          <a:prstGeom prst="rect">
            <a:avLst/>
          </a:prstGeom>
          <a:noFill/>
        </p:spPr>
        <p:txBody>
          <a:bodyPr wrap="square">
            <a:spAutoFit/>
          </a:bodyPr>
          <a:lstStyle/>
          <a:p>
            <a:pPr algn="l">
              <a:defRPr sz="1100" b="0" i="0">
                <a:solidFill>
                  <a:srgbClr val="333333"/>
                </a:solidFill>
                <a:latin typeface="Calibri"/>
              </a:defRPr>
            </a:pPr>
            <a:r>
              <a:t>●  Phase 4: Testing &amp; Docs (2 weeks) - DONE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Methodology / Approach</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7/13</a:t>
            </a:r>
          </a:p>
        </p:txBody>
      </p:sp>
      <p:sp>
        <p:nvSpPr>
          <p:cNvPr id="8" name="TextBox 7"/>
          <p:cNvSpPr txBox="1"/>
          <p:nvPr/>
        </p:nvSpPr>
        <p:spPr>
          <a:xfrm>
            <a:off x="457200" y="1005840"/>
            <a:ext cx="10972800" cy="320040"/>
          </a:xfrm>
          <a:prstGeom prst="rect">
            <a:avLst/>
          </a:prstGeom>
          <a:noFill/>
        </p:spPr>
        <p:txBody>
          <a:bodyPr wrap="square">
            <a:spAutoFit/>
          </a:bodyPr>
          <a:lstStyle/>
          <a:p>
            <a:pPr algn="l">
              <a:defRPr sz="1400" b="1" i="0">
                <a:solidFill>
                  <a:srgbClr val="2E7D32"/>
                </a:solidFill>
                <a:latin typeface="Calibri"/>
              </a:defRPr>
            </a:pPr>
            <a:r>
              <a:t>End-to-End Data &amp; ML Pipeline (6-Stage Flow)</a:t>
            </a:r>
          </a:p>
        </p:txBody>
      </p:sp>
      <p:pic>
        <p:nvPicPr>
          <p:cNvPr id="9" name="Picture 8" descr="pipeline_flowchart.png"/>
          <p:cNvPicPr>
            <a:picLocks noChangeAspect="1"/>
          </p:cNvPicPr>
          <p:nvPr/>
        </p:nvPicPr>
        <p:blipFill>
          <a:blip r:embed="rId3"/>
          <a:stretch>
            <a:fillRect/>
          </a:stretch>
        </p:blipFill>
        <p:spPr>
          <a:xfrm>
            <a:off x="274320" y="1371600"/>
            <a:ext cx="6400800" cy="3164064"/>
          </a:xfrm>
          <a:prstGeom prst="rect">
            <a:avLst/>
          </a:prstGeom>
        </p:spPr>
      </p:pic>
      <p:sp>
        <p:nvSpPr>
          <p:cNvPr id="10" name="TextBox 9"/>
          <p:cNvSpPr txBox="1"/>
          <p:nvPr/>
        </p:nvSpPr>
        <p:spPr>
          <a:xfrm>
            <a:off x="274320" y="4386072"/>
            <a:ext cx="6400800" cy="274320"/>
          </a:xfrm>
          <a:prstGeom prst="rect">
            <a:avLst/>
          </a:prstGeom>
          <a:noFill/>
        </p:spPr>
        <p:txBody>
          <a:bodyPr wrap="square">
            <a:spAutoFit/>
          </a:bodyPr>
          <a:lstStyle/>
          <a:p>
            <a:pPr algn="ctr">
              <a:defRPr sz="1000" b="0" i="1">
                <a:solidFill>
                  <a:srgbClr val="666666"/>
                </a:solidFill>
                <a:latin typeface="Calibri"/>
              </a:defRPr>
            </a:pPr>
            <a:r>
              <a:t>Fig: Complete Pipeline from Raw Data to Deployed App</a:t>
            </a:r>
          </a:p>
        </p:txBody>
      </p:sp>
      <p:sp>
        <p:nvSpPr>
          <p:cNvPr id="11" name="TextBox 10"/>
          <p:cNvSpPr txBox="1"/>
          <p:nvPr/>
        </p:nvSpPr>
        <p:spPr>
          <a:xfrm>
            <a:off x="6949440" y="1005840"/>
            <a:ext cx="5029200" cy="320040"/>
          </a:xfrm>
          <a:prstGeom prst="rect">
            <a:avLst/>
          </a:prstGeom>
          <a:noFill/>
        </p:spPr>
        <p:txBody>
          <a:bodyPr wrap="square">
            <a:spAutoFit/>
          </a:bodyPr>
          <a:lstStyle/>
          <a:p>
            <a:pPr algn="l">
              <a:defRPr sz="1300" b="1" i="0">
                <a:solidFill>
                  <a:srgbClr val="2E7D32"/>
                </a:solidFill>
                <a:latin typeface="Calibri"/>
              </a:defRPr>
            </a:pPr>
            <a:r>
              <a:t>Agile Methodology (4 Phases, 13 Weeks)</a:t>
            </a:r>
          </a:p>
        </p:txBody>
      </p:sp>
      <p:sp>
        <p:nvSpPr>
          <p:cNvPr id="12" name="Oval 11"/>
          <p:cNvSpPr/>
          <p:nvPr/>
        </p:nvSpPr>
        <p:spPr>
          <a:xfrm>
            <a:off x="6949440" y="1417320"/>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1</a:t>
            </a:r>
          </a:p>
        </p:txBody>
      </p:sp>
      <p:sp>
        <p:nvSpPr>
          <p:cNvPr id="13" name="TextBox 12"/>
          <p:cNvSpPr txBox="1"/>
          <p:nvPr/>
        </p:nvSpPr>
        <p:spPr>
          <a:xfrm>
            <a:off x="7360920" y="1399032"/>
            <a:ext cx="1371600" cy="274320"/>
          </a:xfrm>
          <a:prstGeom prst="rect">
            <a:avLst/>
          </a:prstGeom>
          <a:noFill/>
        </p:spPr>
        <p:txBody>
          <a:bodyPr wrap="square">
            <a:spAutoFit/>
          </a:bodyPr>
          <a:lstStyle/>
          <a:p>
            <a:pPr algn="l">
              <a:defRPr sz="1100" b="1" i="0">
                <a:solidFill>
                  <a:srgbClr val="1B5E20"/>
                </a:solidFill>
                <a:latin typeface="Calibri"/>
              </a:defRPr>
            </a:pPr>
            <a:r>
              <a:t>DATA INGESTION</a:t>
            </a:r>
          </a:p>
        </p:txBody>
      </p:sp>
      <p:sp>
        <p:nvSpPr>
          <p:cNvPr id="14" name="TextBox 13"/>
          <p:cNvSpPr txBox="1"/>
          <p:nvPr/>
        </p:nvSpPr>
        <p:spPr>
          <a:xfrm>
            <a:off x="8686800" y="1399032"/>
            <a:ext cx="3200400" cy="640080"/>
          </a:xfrm>
          <a:prstGeom prst="rect">
            <a:avLst/>
          </a:prstGeom>
          <a:noFill/>
        </p:spPr>
        <p:txBody>
          <a:bodyPr wrap="square">
            <a:spAutoFit/>
          </a:bodyPr>
          <a:lstStyle/>
          <a:p>
            <a:pPr algn="l">
              <a:defRPr sz="1000" b="0" i="0">
                <a:solidFill>
                  <a:srgbClr val="333333"/>
                </a:solidFill>
                <a:latin typeface="Calibri"/>
              </a:defRPr>
            </a:pPr>
            <a:r>
              <a:t>4 sources: AGMARKNET, Kaggle,</a:t>
            </a:r>
            <a:br/>
            <a:r>
              <a:t>NASA POWER, Open-Meteo</a:t>
            </a:r>
          </a:p>
        </p:txBody>
      </p:sp>
      <p:sp>
        <p:nvSpPr>
          <p:cNvPr id="15" name="Oval 14"/>
          <p:cNvSpPr/>
          <p:nvPr/>
        </p:nvSpPr>
        <p:spPr>
          <a:xfrm>
            <a:off x="6949440" y="2167128"/>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2</a:t>
            </a:r>
          </a:p>
        </p:txBody>
      </p:sp>
      <p:sp>
        <p:nvSpPr>
          <p:cNvPr id="16" name="TextBox 15"/>
          <p:cNvSpPr txBox="1"/>
          <p:nvPr/>
        </p:nvSpPr>
        <p:spPr>
          <a:xfrm>
            <a:off x="7360920" y="2148840"/>
            <a:ext cx="1371600" cy="274320"/>
          </a:xfrm>
          <a:prstGeom prst="rect">
            <a:avLst/>
          </a:prstGeom>
          <a:noFill/>
        </p:spPr>
        <p:txBody>
          <a:bodyPr wrap="square">
            <a:spAutoFit/>
          </a:bodyPr>
          <a:lstStyle/>
          <a:p>
            <a:pPr algn="l">
              <a:defRPr sz="1100" b="1" i="0">
                <a:solidFill>
                  <a:srgbClr val="1B5E20"/>
                </a:solidFill>
                <a:latin typeface="Calibri"/>
              </a:defRPr>
            </a:pPr>
            <a:r>
              <a:t>VALIDATION</a:t>
            </a:r>
          </a:p>
        </p:txBody>
      </p:sp>
      <p:sp>
        <p:nvSpPr>
          <p:cNvPr id="17" name="TextBox 16"/>
          <p:cNvSpPr txBox="1"/>
          <p:nvPr/>
        </p:nvSpPr>
        <p:spPr>
          <a:xfrm>
            <a:off x="8686800" y="2148840"/>
            <a:ext cx="3200400" cy="640080"/>
          </a:xfrm>
          <a:prstGeom prst="rect">
            <a:avLst/>
          </a:prstGeom>
          <a:noFill/>
        </p:spPr>
        <p:txBody>
          <a:bodyPr wrap="square">
            <a:spAutoFit/>
          </a:bodyPr>
          <a:lstStyle/>
          <a:p>
            <a:pPr algn="l">
              <a:defRPr sz="1000" b="0" i="0">
                <a:solidFill>
                  <a:srgbClr val="333333"/>
                </a:solidFill>
                <a:latin typeface="Calibri"/>
              </a:defRPr>
            </a:pPr>
            <a:r>
              <a:t>Pandera schemas, MH-only filter,</a:t>
            </a:r>
            <a:br/>
            <a:r>
              <a:t>type &amp; range enforcement</a:t>
            </a:r>
          </a:p>
        </p:txBody>
      </p:sp>
      <p:sp>
        <p:nvSpPr>
          <p:cNvPr id="18" name="Oval 17"/>
          <p:cNvSpPr/>
          <p:nvPr/>
        </p:nvSpPr>
        <p:spPr>
          <a:xfrm>
            <a:off x="6949440" y="2916936"/>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3</a:t>
            </a:r>
          </a:p>
        </p:txBody>
      </p:sp>
      <p:sp>
        <p:nvSpPr>
          <p:cNvPr id="19" name="TextBox 18"/>
          <p:cNvSpPr txBox="1"/>
          <p:nvPr/>
        </p:nvSpPr>
        <p:spPr>
          <a:xfrm>
            <a:off x="7360920" y="2898648"/>
            <a:ext cx="1371600" cy="274320"/>
          </a:xfrm>
          <a:prstGeom prst="rect">
            <a:avLst/>
          </a:prstGeom>
          <a:noFill/>
        </p:spPr>
        <p:txBody>
          <a:bodyPr wrap="square">
            <a:spAutoFit/>
          </a:bodyPr>
          <a:lstStyle/>
          <a:p>
            <a:pPr algn="l">
              <a:defRPr sz="1100" b="1" i="0">
                <a:solidFill>
                  <a:srgbClr val="1B5E20"/>
                </a:solidFill>
                <a:latin typeface="Calibri"/>
              </a:defRPr>
            </a:pPr>
            <a:r>
              <a:t>DEDUPLICATION</a:t>
            </a:r>
          </a:p>
        </p:txBody>
      </p:sp>
      <p:sp>
        <p:nvSpPr>
          <p:cNvPr id="20" name="TextBox 19"/>
          <p:cNvSpPr txBox="1"/>
          <p:nvPr/>
        </p:nvSpPr>
        <p:spPr>
          <a:xfrm>
            <a:off x="8686800" y="2898648"/>
            <a:ext cx="3200400" cy="640080"/>
          </a:xfrm>
          <a:prstGeom prst="rect">
            <a:avLst/>
          </a:prstGeom>
          <a:noFill/>
        </p:spPr>
        <p:txBody>
          <a:bodyPr wrap="square">
            <a:spAutoFit/>
          </a:bodyPr>
          <a:lstStyle/>
          <a:p>
            <a:pPr algn="l">
              <a:defRPr sz="1000" b="0" i="0">
                <a:solidFill>
                  <a:srgbClr val="333333"/>
                </a:solidFill>
                <a:latin typeface="Calibri"/>
              </a:defRPr>
            </a:pPr>
            <a:r>
              <a:t>7-column natural key, DuckDB,</a:t>
            </a:r>
            <a:br/>
            <a:r>
              <a:t>~700K duplicates removed</a:t>
            </a:r>
          </a:p>
        </p:txBody>
      </p:sp>
      <p:sp>
        <p:nvSpPr>
          <p:cNvPr id="21" name="Oval 20"/>
          <p:cNvSpPr/>
          <p:nvPr/>
        </p:nvSpPr>
        <p:spPr>
          <a:xfrm>
            <a:off x="6949440" y="3666744"/>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4</a:t>
            </a:r>
          </a:p>
        </p:txBody>
      </p:sp>
      <p:sp>
        <p:nvSpPr>
          <p:cNvPr id="22" name="TextBox 21"/>
          <p:cNvSpPr txBox="1"/>
          <p:nvPr/>
        </p:nvSpPr>
        <p:spPr>
          <a:xfrm>
            <a:off x="7360920" y="3648456"/>
            <a:ext cx="1371600" cy="274320"/>
          </a:xfrm>
          <a:prstGeom prst="rect">
            <a:avLst/>
          </a:prstGeom>
          <a:noFill/>
        </p:spPr>
        <p:txBody>
          <a:bodyPr wrap="square">
            <a:spAutoFit/>
          </a:bodyPr>
          <a:lstStyle/>
          <a:p>
            <a:pPr algn="l">
              <a:defRPr sz="1100" b="1" i="0">
                <a:solidFill>
                  <a:srgbClr val="1B5E20"/>
                </a:solidFill>
                <a:latin typeface="Calibri"/>
              </a:defRPr>
            </a:pPr>
            <a:r>
              <a:t>FEATURE ENG.</a:t>
            </a:r>
          </a:p>
        </p:txBody>
      </p:sp>
      <p:sp>
        <p:nvSpPr>
          <p:cNvPr id="23" name="TextBox 22"/>
          <p:cNvSpPr txBox="1"/>
          <p:nvPr/>
        </p:nvSpPr>
        <p:spPr>
          <a:xfrm>
            <a:off x="8686800" y="3648456"/>
            <a:ext cx="3200400" cy="640080"/>
          </a:xfrm>
          <a:prstGeom prst="rect">
            <a:avLst/>
          </a:prstGeom>
          <a:noFill/>
        </p:spPr>
        <p:txBody>
          <a:bodyPr wrap="square">
            <a:spAutoFit/>
          </a:bodyPr>
          <a:lstStyle/>
          <a:p>
            <a:pPr algn="l">
              <a:defRPr sz="1000" b="0" i="0">
                <a:solidFill>
                  <a:srgbClr val="333333"/>
                </a:solidFill>
                <a:latin typeface="Calibri"/>
              </a:defRPr>
            </a:pPr>
            <a:r>
              <a:t>GDD, VPD, Drought Index,</a:t>
            </a:r>
            <a:br/>
            <a:r>
              <a:t>rolling stats, lag features</a:t>
            </a:r>
          </a:p>
        </p:txBody>
      </p:sp>
      <p:sp>
        <p:nvSpPr>
          <p:cNvPr id="24" name="Oval 23"/>
          <p:cNvSpPr/>
          <p:nvPr/>
        </p:nvSpPr>
        <p:spPr>
          <a:xfrm>
            <a:off x="6949440" y="4416552"/>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5</a:t>
            </a:r>
          </a:p>
        </p:txBody>
      </p:sp>
      <p:sp>
        <p:nvSpPr>
          <p:cNvPr id="25" name="TextBox 24"/>
          <p:cNvSpPr txBox="1"/>
          <p:nvPr/>
        </p:nvSpPr>
        <p:spPr>
          <a:xfrm>
            <a:off x="7360920" y="4398264"/>
            <a:ext cx="1371600" cy="274320"/>
          </a:xfrm>
          <a:prstGeom prst="rect">
            <a:avLst/>
          </a:prstGeom>
          <a:noFill/>
        </p:spPr>
        <p:txBody>
          <a:bodyPr wrap="square">
            <a:spAutoFit/>
          </a:bodyPr>
          <a:lstStyle/>
          <a:p>
            <a:pPr algn="l">
              <a:defRPr sz="1100" b="1" i="0">
                <a:solidFill>
                  <a:srgbClr val="1B5E20"/>
                </a:solidFill>
                <a:latin typeface="Calibri"/>
              </a:defRPr>
            </a:pPr>
            <a:r>
              <a:t>ML TRAINING</a:t>
            </a:r>
          </a:p>
        </p:txBody>
      </p:sp>
      <p:sp>
        <p:nvSpPr>
          <p:cNvPr id="26" name="TextBox 25"/>
          <p:cNvSpPr txBox="1"/>
          <p:nvPr/>
        </p:nvSpPr>
        <p:spPr>
          <a:xfrm>
            <a:off x="8686800" y="4398264"/>
            <a:ext cx="3200400" cy="640080"/>
          </a:xfrm>
          <a:prstGeom prst="rect">
            <a:avLst/>
          </a:prstGeom>
          <a:noFill/>
        </p:spPr>
        <p:txBody>
          <a:bodyPr wrap="square">
            <a:spAutoFit/>
          </a:bodyPr>
          <a:lstStyle/>
          <a:p>
            <a:pPr algn="l">
              <a:defRPr sz="1000" b="0" i="0">
                <a:solidFill>
                  <a:srgbClr val="333333"/>
                </a:solidFill>
                <a:latin typeface="Calibri"/>
              </a:defRPr>
            </a:pPr>
            <a:r>
              <a:t>LightGBM 5-fold CV,</a:t>
            </a:r>
            <a:br/>
            <a:r>
              <a:t>class weights, conformal intervals</a:t>
            </a:r>
          </a:p>
        </p:txBody>
      </p:sp>
      <p:sp>
        <p:nvSpPr>
          <p:cNvPr id="27" name="Oval 26"/>
          <p:cNvSpPr/>
          <p:nvPr/>
        </p:nvSpPr>
        <p:spPr>
          <a:xfrm>
            <a:off x="6949440" y="5166360"/>
            <a:ext cx="320040" cy="32004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defRPr>
            </a:pPr>
            <a:r>
              <a:t>6</a:t>
            </a:r>
          </a:p>
        </p:txBody>
      </p:sp>
      <p:sp>
        <p:nvSpPr>
          <p:cNvPr id="28" name="TextBox 27"/>
          <p:cNvSpPr txBox="1"/>
          <p:nvPr/>
        </p:nvSpPr>
        <p:spPr>
          <a:xfrm>
            <a:off x="7360920" y="5148072"/>
            <a:ext cx="1371600" cy="274320"/>
          </a:xfrm>
          <a:prstGeom prst="rect">
            <a:avLst/>
          </a:prstGeom>
          <a:noFill/>
        </p:spPr>
        <p:txBody>
          <a:bodyPr wrap="square">
            <a:spAutoFit/>
          </a:bodyPr>
          <a:lstStyle/>
          <a:p>
            <a:pPr algn="l">
              <a:defRPr sz="1100" b="1" i="0">
                <a:solidFill>
                  <a:srgbClr val="1B5E20"/>
                </a:solidFill>
                <a:latin typeface="Calibri"/>
              </a:defRPr>
            </a:pPr>
            <a:r>
              <a:t>SERVING</a:t>
            </a:r>
          </a:p>
        </p:txBody>
      </p:sp>
      <p:sp>
        <p:nvSpPr>
          <p:cNvPr id="29" name="TextBox 28"/>
          <p:cNvSpPr txBox="1"/>
          <p:nvPr/>
        </p:nvSpPr>
        <p:spPr>
          <a:xfrm>
            <a:off x="8686800" y="5148072"/>
            <a:ext cx="3200400" cy="640080"/>
          </a:xfrm>
          <a:prstGeom prst="rect">
            <a:avLst/>
          </a:prstGeom>
          <a:noFill/>
        </p:spPr>
        <p:txBody>
          <a:bodyPr wrap="square">
            <a:spAutoFit/>
          </a:bodyPr>
          <a:lstStyle/>
          <a:p>
            <a:pPr algn="l">
              <a:defRPr sz="1000" b="0" i="0">
                <a:solidFill>
                  <a:srgbClr val="333333"/>
                </a:solidFill>
                <a:latin typeface="Calibri"/>
              </a:defRPr>
            </a:pPr>
            <a:r>
              <a:t>FastAPI endpoints, .joblib models,</a:t>
            </a:r>
            <a:br/>
            <a:r>
              <a:t>Next.js frontend display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System Architecture &amp; Design</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8/13</a:t>
            </a:r>
          </a:p>
        </p:txBody>
      </p:sp>
      <p:pic>
        <p:nvPicPr>
          <p:cNvPr id="8" name="Picture 7" descr="system_architecture.png"/>
          <p:cNvPicPr>
            <a:picLocks noChangeAspect="1"/>
          </p:cNvPicPr>
          <p:nvPr/>
        </p:nvPicPr>
        <p:blipFill>
          <a:blip r:embed="rId3"/>
          <a:stretch>
            <a:fillRect/>
          </a:stretch>
        </p:blipFill>
        <p:spPr>
          <a:xfrm>
            <a:off x="274320" y="1005840"/>
            <a:ext cx="5760720" cy="4189615"/>
          </a:xfrm>
          <a:prstGeom prst="rect">
            <a:avLst/>
          </a:prstGeom>
        </p:spPr>
      </p:pic>
      <p:sp>
        <p:nvSpPr>
          <p:cNvPr id="9" name="TextBox 8"/>
          <p:cNvSpPr txBox="1"/>
          <p:nvPr/>
        </p:nvSpPr>
        <p:spPr>
          <a:xfrm>
            <a:off x="274320" y="5120640"/>
            <a:ext cx="5760720" cy="274320"/>
          </a:xfrm>
          <a:prstGeom prst="rect">
            <a:avLst/>
          </a:prstGeom>
          <a:noFill/>
        </p:spPr>
        <p:txBody>
          <a:bodyPr wrap="square">
            <a:spAutoFit/>
          </a:bodyPr>
          <a:lstStyle/>
          <a:p>
            <a:pPr algn="ctr">
              <a:defRPr sz="1000" b="0" i="1">
                <a:solidFill>
                  <a:srgbClr val="666666"/>
                </a:solidFill>
                <a:latin typeface="Calibri"/>
              </a:defRPr>
            </a:pPr>
            <a:r>
              <a:t>Fig: Three-Tier System Architecture</a:t>
            </a:r>
          </a:p>
        </p:txBody>
      </p:sp>
      <p:pic>
        <p:nvPicPr>
          <p:cNvPr id="10" name="Picture 9" descr="use_cases.png"/>
          <p:cNvPicPr>
            <a:picLocks noChangeAspect="1"/>
          </p:cNvPicPr>
          <p:nvPr/>
        </p:nvPicPr>
        <p:blipFill>
          <a:blip r:embed="rId4"/>
          <a:stretch>
            <a:fillRect/>
          </a:stretch>
        </p:blipFill>
        <p:spPr>
          <a:xfrm>
            <a:off x="6309360" y="830903"/>
            <a:ext cx="5669280" cy="4564057"/>
          </a:xfrm>
          <a:prstGeom prst="rect">
            <a:avLst/>
          </a:prstGeom>
        </p:spPr>
      </p:pic>
      <p:sp>
        <p:nvSpPr>
          <p:cNvPr id="11" name="TextBox 10"/>
          <p:cNvSpPr txBox="1"/>
          <p:nvPr/>
        </p:nvSpPr>
        <p:spPr>
          <a:xfrm>
            <a:off x="6217920" y="5120640"/>
            <a:ext cx="5669280" cy="274320"/>
          </a:xfrm>
          <a:prstGeom prst="rect">
            <a:avLst/>
          </a:prstGeom>
          <a:noFill/>
        </p:spPr>
        <p:txBody>
          <a:bodyPr wrap="square">
            <a:spAutoFit/>
          </a:bodyPr>
          <a:lstStyle/>
          <a:p>
            <a:pPr algn="ctr">
              <a:defRPr sz="1000" b="0" i="1">
                <a:solidFill>
                  <a:srgbClr val="666666"/>
                </a:solidFill>
                <a:latin typeface="Calibri"/>
              </a:defRPr>
            </a:pPr>
            <a:r>
              <a:t>Fig: Use Case Diagram (12 Use Cases, 3 Actors)</a:t>
            </a:r>
          </a:p>
        </p:txBody>
      </p:sp>
      <p:sp>
        <p:nvSpPr>
          <p:cNvPr id="12" name="Rounded Rectangle 11"/>
          <p:cNvSpPr/>
          <p:nvPr/>
        </p:nvSpPr>
        <p:spPr>
          <a:xfrm>
            <a:off x="457200" y="5486400"/>
            <a:ext cx="3657600" cy="822960"/>
          </a:xfrm>
          <a:prstGeom prst="roundRect">
            <a:avLst/>
          </a:prstGeom>
          <a:solidFill>
            <a:srgbClr val="FFFFFF"/>
          </a:solidFill>
          <a:ln w="1905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5486400"/>
            <a:ext cx="3474720" cy="320040"/>
          </a:xfrm>
          <a:prstGeom prst="rect">
            <a:avLst/>
          </a:prstGeom>
          <a:noFill/>
        </p:spPr>
        <p:txBody>
          <a:bodyPr wrap="square">
            <a:spAutoFit/>
          </a:bodyPr>
          <a:lstStyle/>
          <a:p>
            <a:pPr algn="ctr">
              <a:defRPr sz="1100" b="1" i="0">
                <a:solidFill>
                  <a:srgbClr val="1565C0"/>
                </a:solidFill>
                <a:latin typeface="Calibri"/>
              </a:defRPr>
            </a:pPr>
            <a:r>
              <a:t>PRESENTATION</a:t>
            </a:r>
          </a:p>
        </p:txBody>
      </p:sp>
      <p:sp>
        <p:nvSpPr>
          <p:cNvPr id="14" name="TextBox 13"/>
          <p:cNvSpPr txBox="1"/>
          <p:nvPr/>
        </p:nvSpPr>
        <p:spPr>
          <a:xfrm>
            <a:off x="548640" y="5806440"/>
            <a:ext cx="3474720" cy="411480"/>
          </a:xfrm>
          <a:prstGeom prst="rect">
            <a:avLst/>
          </a:prstGeom>
          <a:noFill/>
        </p:spPr>
        <p:txBody>
          <a:bodyPr wrap="square">
            <a:spAutoFit/>
          </a:bodyPr>
          <a:lstStyle/>
          <a:p>
            <a:pPr algn="ctr">
              <a:defRPr sz="900" b="0" i="0">
                <a:solidFill>
                  <a:srgbClr val="333333"/>
                </a:solidFill>
                <a:latin typeface="Calibri"/>
              </a:defRPr>
            </a:pPr>
            <a:r>
              <a:t>Next.js 14 / Tailwind / Framer Motion</a:t>
            </a:r>
          </a:p>
        </p:txBody>
      </p:sp>
      <p:sp>
        <p:nvSpPr>
          <p:cNvPr id="15" name="Rounded Rectangle 14"/>
          <p:cNvSpPr/>
          <p:nvPr/>
        </p:nvSpPr>
        <p:spPr>
          <a:xfrm>
            <a:off x="4389120" y="5486400"/>
            <a:ext cx="3657600" cy="822960"/>
          </a:xfrm>
          <a:prstGeom prst="roundRect">
            <a:avLst/>
          </a:prstGeom>
          <a:solidFill>
            <a:srgbClr val="FFFFFF"/>
          </a:solidFill>
          <a:ln w="1905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5486400"/>
            <a:ext cx="3474720" cy="320040"/>
          </a:xfrm>
          <a:prstGeom prst="rect">
            <a:avLst/>
          </a:prstGeom>
          <a:noFill/>
        </p:spPr>
        <p:txBody>
          <a:bodyPr wrap="square">
            <a:spAutoFit/>
          </a:bodyPr>
          <a:lstStyle/>
          <a:p>
            <a:pPr algn="ctr">
              <a:defRPr sz="1100" b="1" i="0">
                <a:solidFill>
                  <a:srgbClr val="2E7D32"/>
                </a:solidFill>
                <a:latin typeface="Calibri"/>
              </a:defRPr>
            </a:pPr>
            <a:r>
              <a:t>APPLICATION</a:t>
            </a:r>
          </a:p>
        </p:txBody>
      </p:sp>
      <p:sp>
        <p:nvSpPr>
          <p:cNvPr id="17" name="TextBox 16"/>
          <p:cNvSpPr txBox="1"/>
          <p:nvPr/>
        </p:nvSpPr>
        <p:spPr>
          <a:xfrm>
            <a:off x="4480560" y="5806440"/>
            <a:ext cx="3474720" cy="411480"/>
          </a:xfrm>
          <a:prstGeom prst="rect">
            <a:avLst/>
          </a:prstGeom>
          <a:noFill/>
        </p:spPr>
        <p:txBody>
          <a:bodyPr wrap="square">
            <a:spAutoFit/>
          </a:bodyPr>
          <a:lstStyle/>
          <a:p>
            <a:pPr algn="ctr">
              <a:defRPr sz="900" b="0" i="0">
                <a:solidFill>
                  <a:srgbClr val="333333"/>
                </a:solidFill>
                <a:latin typeface="Calibri"/>
              </a:defRPr>
            </a:pPr>
            <a:r>
              <a:t>FastAPI / LightGBM / Auth Middleware</a:t>
            </a:r>
          </a:p>
        </p:txBody>
      </p:sp>
      <p:sp>
        <p:nvSpPr>
          <p:cNvPr id="18" name="Rounded Rectangle 17"/>
          <p:cNvSpPr/>
          <p:nvPr/>
        </p:nvSpPr>
        <p:spPr>
          <a:xfrm>
            <a:off x="8321040" y="5486400"/>
            <a:ext cx="3657600" cy="822960"/>
          </a:xfrm>
          <a:prstGeom prst="roundRect">
            <a:avLst/>
          </a:prstGeom>
          <a:solidFill>
            <a:srgbClr val="FFFFFF"/>
          </a:solidFill>
          <a:ln w="1905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5486400"/>
            <a:ext cx="3474720" cy="320040"/>
          </a:xfrm>
          <a:prstGeom prst="rect">
            <a:avLst/>
          </a:prstGeom>
          <a:noFill/>
        </p:spPr>
        <p:txBody>
          <a:bodyPr wrap="square">
            <a:spAutoFit/>
          </a:bodyPr>
          <a:lstStyle/>
          <a:p>
            <a:pPr algn="ctr">
              <a:defRPr sz="1100" b="1" i="0">
                <a:solidFill>
                  <a:srgbClr val="E65100"/>
                </a:solidFill>
                <a:latin typeface="Calibri"/>
              </a:defRPr>
            </a:pPr>
            <a:r>
              <a:t>DATA</a:t>
            </a:r>
          </a:p>
        </p:txBody>
      </p:sp>
      <p:sp>
        <p:nvSpPr>
          <p:cNvPr id="20" name="TextBox 19"/>
          <p:cNvSpPr txBox="1"/>
          <p:nvPr/>
        </p:nvSpPr>
        <p:spPr>
          <a:xfrm>
            <a:off x="8412480" y="5806440"/>
            <a:ext cx="3474720" cy="411480"/>
          </a:xfrm>
          <a:prstGeom prst="rect">
            <a:avLst/>
          </a:prstGeom>
          <a:noFill/>
        </p:spPr>
        <p:txBody>
          <a:bodyPr wrap="square">
            <a:spAutoFit/>
          </a:bodyPr>
          <a:lstStyle/>
          <a:p>
            <a:pPr algn="ctr">
              <a:defRPr sz="900" b="0" i="0">
                <a:solidFill>
                  <a:srgbClr val="333333"/>
                </a:solidFill>
                <a:latin typeface="Calibri"/>
              </a:defRPr>
            </a:pPr>
            <a:r>
              <a:t>Supabase PostgreSQL / DuckDB / Parquet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Working Prototype &amp; Key Flows</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9/13</a:t>
            </a:r>
          </a:p>
        </p:txBody>
      </p:sp>
      <p:pic>
        <p:nvPicPr>
          <p:cNvPr id="8" name="Picture 7" descr="ml_pipeline.png"/>
          <p:cNvPicPr>
            <a:picLocks noChangeAspect="1"/>
          </p:cNvPicPr>
          <p:nvPr/>
        </p:nvPicPr>
        <p:blipFill>
          <a:blip r:embed="rId3"/>
          <a:stretch>
            <a:fillRect/>
          </a:stretch>
        </p:blipFill>
        <p:spPr>
          <a:xfrm>
            <a:off x="274320" y="1005841"/>
            <a:ext cx="3592576" cy="2333360"/>
          </a:xfrm>
          <a:prstGeom prst="rect">
            <a:avLst/>
          </a:prstGeom>
        </p:spPr>
      </p:pic>
      <p:sp>
        <p:nvSpPr>
          <p:cNvPr id="9" name="TextBox 8"/>
          <p:cNvSpPr txBox="1"/>
          <p:nvPr/>
        </p:nvSpPr>
        <p:spPr>
          <a:xfrm>
            <a:off x="-477367" y="3200400"/>
            <a:ext cx="5760720" cy="274320"/>
          </a:xfrm>
          <a:prstGeom prst="rect">
            <a:avLst/>
          </a:prstGeom>
          <a:noFill/>
        </p:spPr>
        <p:txBody>
          <a:bodyPr wrap="square">
            <a:spAutoFit/>
          </a:bodyPr>
          <a:lstStyle/>
          <a:p>
            <a:pPr algn="ctr">
              <a:defRPr sz="1000" b="0" i="1">
                <a:solidFill>
                  <a:srgbClr val="666666"/>
                </a:solidFill>
                <a:latin typeface="Calibri"/>
              </a:defRPr>
            </a:pPr>
            <a:r>
              <a:rPr dirty="0"/>
              <a:t>Fig: ML Training Pipeline (Feature Eng. -&gt; </a:t>
            </a:r>
            <a:r>
              <a:rPr dirty="0" err="1"/>
              <a:t>LightGBM</a:t>
            </a:r>
            <a:r>
              <a:rPr dirty="0"/>
              <a:t> -&gt; Conformal)</a:t>
            </a:r>
          </a:p>
        </p:txBody>
      </p:sp>
      <p:pic>
        <p:nvPicPr>
          <p:cNvPr id="10" name="Picture 9" descr="vet_service_flow.png"/>
          <p:cNvPicPr>
            <a:picLocks noChangeAspect="1"/>
          </p:cNvPicPr>
          <p:nvPr/>
        </p:nvPicPr>
        <p:blipFill>
          <a:blip r:embed="rId4"/>
          <a:stretch>
            <a:fillRect/>
          </a:stretch>
        </p:blipFill>
        <p:spPr>
          <a:xfrm>
            <a:off x="5689600" y="256032"/>
            <a:ext cx="5669280" cy="3682169"/>
          </a:xfrm>
          <a:prstGeom prst="rect">
            <a:avLst/>
          </a:prstGeom>
        </p:spPr>
      </p:pic>
      <p:sp>
        <p:nvSpPr>
          <p:cNvPr id="11" name="TextBox 10"/>
          <p:cNvSpPr txBox="1"/>
          <p:nvPr/>
        </p:nvSpPr>
        <p:spPr>
          <a:xfrm>
            <a:off x="6095847" y="3451860"/>
            <a:ext cx="5669280" cy="274320"/>
          </a:xfrm>
          <a:prstGeom prst="rect">
            <a:avLst/>
          </a:prstGeom>
          <a:noFill/>
        </p:spPr>
        <p:txBody>
          <a:bodyPr wrap="square">
            <a:spAutoFit/>
          </a:bodyPr>
          <a:lstStyle/>
          <a:p>
            <a:pPr algn="ctr">
              <a:defRPr sz="1000" b="0" i="1">
                <a:solidFill>
                  <a:srgbClr val="666666"/>
                </a:solidFill>
                <a:latin typeface="Calibri"/>
              </a:defRPr>
            </a:pPr>
            <a:r>
              <a:rPr dirty="0"/>
              <a:t>Fig: Veterinary Service Workflow (Swimlane Diagram)</a:t>
            </a:r>
          </a:p>
        </p:txBody>
      </p:sp>
      <p:pic>
        <p:nvPicPr>
          <p:cNvPr id="12" name="Picture 11" descr="er_diagram.png"/>
          <p:cNvPicPr>
            <a:picLocks noChangeAspect="1"/>
          </p:cNvPicPr>
          <p:nvPr/>
        </p:nvPicPr>
        <p:blipFill>
          <a:blip r:embed="rId5"/>
          <a:stretch>
            <a:fillRect/>
          </a:stretch>
        </p:blipFill>
        <p:spPr>
          <a:xfrm>
            <a:off x="152705" y="3744884"/>
            <a:ext cx="3840480" cy="2793076"/>
          </a:xfrm>
          <a:prstGeom prst="rect">
            <a:avLst/>
          </a:prstGeom>
        </p:spPr>
      </p:pic>
      <p:sp>
        <p:nvSpPr>
          <p:cNvPr id="13" name="TextBox 12"/>
          <p:cNvSpPr txBox="1"/>
          <p:nvPr/>
        </p:nvSpPr>
        <p:spPr>
          <a:xfrm>
            <a:off x="274320" y="6263640"/>
            <a:ext cx="3840480" cy="274320"/>
          </a:xfrm>
          <a:prstGeom prst="rect">
            <a:avLst/>
          </a:prstGeom>
          <a:noFill/>
        </p:spPr>
        <p:txBody>
          <a:bodyPr wrap="square">
            <a:spAutoFit/>
          </a:bodyPr>
          <a:lstStyle/>
          <a:p>
            <a:pPr algn="ctr">
              <a:defRPr sz="1000" b="0" i="1">
                <a:solidFill>
                  <a:srgbClr val="666666"/>
                </a:solidFill>
                <a:latin typeface="Calibri"/>
              </a:defRPr>
            </a:pPr>
            <a:r>
              <a:t>Fig: ER Diagram (3 Tables + 2 Data Stores)</a:t>
            </a:r>
          </a:p>
        </p:txBody>
      </p:sp>
      <p:pic>
        <p:nvPicPr>
          <p:cNvPr id="14" name="Picture 13" descr="booking_sequence.png"/>
          <p:cNvPicPr>
            <a:picLocks noChangeAspect="1"/>
          </p:cNvPicPr>
          <p:nvPr/>
        </p:nvPicPr>
        <p:blipFill>
          <a:blip r:embed="rId6"/>
          <a:stretch>
            <a:fillRect/>
          </a:stretch>
        </p:blipFill>
        <p:spPr>
          <a:xfrm>
            <a:off x="3939387" y="3584864"/>
            <a:ext cx="3840480" cy="2793076"/>
          </a:xfrm>
          <a:prstGeom prst="rect">
            <a:avLst/>
          </a:prstGeom>
        </p:spPr>
      </p:pic>
      <p:sp>
        <p:nvSpPr>
          <p:cNvPr id="15" name="TextBox 14"/>
          <p:cNvSpPr txBox="1"/>
          <p:nvPr/>
        </p:nvSpPr>
        <p:spPr>
          <a:xfrm>
            <a:off x="4297680" y="6263640"/>
            <a:ext cx="3840480" cy="274320"/>
          </a:xfrm>
          <a:prstGeom prst="rect">
            <a:avLst/>
          </a:prstGeom>
          <a:noFill/>
        </p:spPr>
        <p:txBody>
          <a:bodyPr wrap="square">
            <a:spAutoFit/>
          </a:bodyPr>
          <a:lstStyle/>
          <a:p>
            <a:pPr algn="ctr">
              <a:defRPr sz="1000" b="0" i="1">
                <a:solidFill>
                  <a:srgbClr val="666666"/>
                </a:solidFill>
                <a:latin typeface="Calibri"/>
              </a:defRPr>
            </a:pPr>
            <a:r>
              <a:t>Fig: Booking Sequence Diagram</a:t>
            </a:r>
          </a:p>
        </p:txBody>
      </p:sp>
      <p:pic>
        <p:nvPicPr>
          <p:cNvPr id="16" name="Picture 15" descr="dedup_process_flow.png"/>
          <p:cNvPicPr>
            <a:picLocks noChangeAspect="1"/>
          </p:cNvPicPr>
          <p:nvPr/>
        </p:nvPicPr>
        <p:blipFill>
          <a:blip r:embed="rId7"/>
          <a:stretch>
            <a:fillRect/>
          </a:stretch>
        </p:blipFill>
        <p:spPr>
          <a:xfrm>
            <a:off x="8381695" y="4303614"/>
            <a:ext cx="3657600" cy="1806633"/>
          </a:xfrm>
          <a:prstGeom prst="rect">
            <a:avLst/>
          </a:prstGeom>
        </p:spPr>
      </p:pic>
      <p:sp>
        <p:nvSpPr>
          <p:cNvPr id="17" name="TextBox 16"/>
          <p:cNvSpPr txBox="1"/>
          <p:nvPr/>
        </p:nvSpPr>
        <p:spPr>
          <a:xfrm>
            <a:off x="8321040" y="6263640"/>
            <a:ext cx="3657600" cy="274320"/>
          </a:xfrm>
          <a:prstGeom prst="rect">
            <a:avLst/>
          </a:prstGeom>
          <a:noFill/>
        </p:spPr>
        <p:txBody>
          <a:bodyPr wrap="square">
            <a:spAutoFit/>
          </a:bodyPr>
          <a:lstStyle/>
          <a:p>
            <a:pPr algn="ctr">
              <a:defRPr sz="1000" b="0" i="1">
                <a:solidFill>
                  <a:srgbClr val="666666"/>
                </a:solidFill>
                <a:latin typeface="Calibri"/>
              </a:defRPr>
            </a:pPr>
            <a:r>
              <a:t>Fig: Deduplication Strategy (7-Key)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Results &amp; Applications</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10/13</a:t>
            </a:r>
          </a:p>
        </p:txBody>
      </p:sp>
      <p:pic>
        <p:nvPicPr>
          <p:cNvPr id="8" name="Picture 7" descr="crop_risk_results.png"/>
          <p:cNvPicPr>
            <a:picLocks noChangeAspect="1"/>
          </p:cNvPicPr>
          <p:nvPr/>
        </p:nvPicPr>
        <p:blipFill>
          <a:blip r:embed="rId3"/>
          <a:stretch>
            <a:fillRect/>
          </a:stretch>
        </p:blipFill>
        <p:spPr>
          <a:xfrm>
            <a:off x="335127" y="781320"/>
            <a:ext cx="5760720" cy="2597880"/>
          </a:xfrm>
          <a:prstGeom prst="rect">
            <a:avLst/>
          </a:prstGeom>
        </p:spPr>
      </p:pic>
      <p:sp>
        <p:nvSpPr>
          <p:cNvPr id="9" name="TextBox 8"/>
          <p:cNvSpPr txBox="1"/>
          <p:nvPr/>
        </p:nvSpPr>
        <p:spPr>
          <a:xfrm>
            <a:off x="182880" y="3196320"/>
            <a:ext cx="5760720" cy="274320"/>
          </a:xfrm>
          <a:prstGeom prst="rect">
            <a:avLst/>
          </a:prstGeom>
          <a:noFill/>
        </p:spPr>
        <p:txBody>
          <a:bodyPr wrap="square">
            <a:spAutoFit/>
          </a:bodyPr>
          <a:lstStyle/>
          <a:p>
            <a:pPr algn="ctr">
              <a:defRPr sz="1000" b="0" i="1">
                <a:solidFill>
                  <a:srgbClr val="666666"/>
                </a:solidFill>
                <a:latin typeface="Calibri"/>
              </a:defRPr>
            </a:pPr>
            <a:r>
              <a:rPr dirty="0"/>
              <a:t>Fig: Crop Risk Advisor - 87.4% Accuracy, Feature Importance</a:t>
            </a:r>
          </a:p>
        </p:txBody>
      </p:sp>
      <p:pic>
        <p:nvPicPr>
          <p:cNvPr id="10" name="Picture 9" descr="price_model_results.png"/>
          <p:cNvPicPr>
            <a:picLocks noChangeAspect="1"/>
          </p:cNvPicPr>
          <p:nvPr/>
        </p:nvPicPr>
        <p:blipFill>
          <a:blip r:embed="rId4"/>
          <a:stretch>
            <a:fillRect/>
          </a:stretch>
        </p:blipFill>
        <p:spPr>
          <a:xfrm>
            <a:off x="6309360" y="622733"/>
            <a:ext cx="5669280" cy="2556644"/>
          </a:xfrm>
          <a:prstGeom prst="rect">
            <a:avLst/>
          </a:prstGeom>
        </p:spPr>
      </p:pic>
      <p:sp>
        <p:nvSpPr>
          <p:cNvPr id="11" name="TextBox 10"/>
          <p:cNvSpPr txBox="1"/>
          <p:nvPr/>
        </p:nvSpPr>
        <p:spPr>
          <a:xfrm>
            <a:off x="6357620" y="3203135"/>
            <a:ext cx="5669280" cy="274320"/>
          </a:xfrm>
          <a:prstGeom prst="rect">
            <a:avLst/>
          </a:prstGeom>
          <a:noFill/>
        </p:spPr>
        <p:txBody>
          <a:bodyPr wrap="square">
            <a:spAutoFit/>
          </a:bodyPr>
          <a:lstStyle/>
          <a:p>
            <a:pPr algn="ctr">
              <a:defRPr sz="1000" b="0" i="1">
                <a:solidFill>
                  <a:srgbClr val="666666"/>
                </a:solidFill>
                <a:latin typeface="Calibri"/>
              </a:defRPr>
            </a:pPr>
            <a:r>
              <a:t>Fig: Price Intelligence - R2=0.93 (1-day), 5 Horizons</a:t>
            </a:r>
          </a:p>
        </p:txBody>
      </p:sp>
      <p:sp>
        <p:nvSpPr>
          <p:cNvPr id="12" name="Rounded Rectangle 11"/>
          <p:cNvSpPr/>
          <p:nvPr/>
        </p:nvSpPr>
        <p:spPr>
          <a:xfrm>
            <a:off x="502920" y="3699240"/>
            <a:ext cx="1783080" cy="1051560"/>
          </a:xfrm>
          <a:prstGeom prst="roundRect">
            <a:avLst/>
          </a:prstGeom>
          <a:solidFill>
            <a:srgbClr val="FFFFFF"/>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744960"/>
            <a:ext cx="1691640" cy="457200"/>
          </a:xfrm>
          <a:prstGeom prst="rect">
            <a:avLst/>
          </a:prstGeom>
          <a:noFill/>
        </p:spPr>
        <p:txBody>
          <a:bodyPr wrap="square">
            <a:spAutoFit/>
          </a:bodyPr>
          <a:lstStyle/>
          <a:p>
            <a:pPr algn="ctr">
              <a:defRPr sz="2000" b="1" i="0">
                <a:solidFill>
                  <a:srgbClr val="2E7D32"/>
                </a:solidFill>
                <a:latin typeface="Calibri"/>
              </a:defRPr>
            </a:pPr>
            <a:r>
              <a:t>87.4%</a:t>
            </a:r>
          </a:p>
        </p:txBody>
      </p:sp>
      <p:sp>
        <p:nvSpPr>
          <p:cNvPr id="14" name="TextBox 13"/>
          <p:cNvSpPr txBox="1"/>
          <p:nvPr/>
        </p:nvSpPr>
        <p:spPr>
          <a:xfrm>
            <a:off x="548640" y="4156440"/>
            <a:ext cx="1691640" cy="457200"/>
          </a:xfrm>
          <a:prstGeom prst="rect">
            <a:avLst/>
          </a:prstGeom>
          <a:noFill/>
        </p:spPr>
        <p:txBody>
          <a:bodyPr wrap="square">
            <a:spAutoFit/>
          </a:bodyPr>
          <a:lstStyle/>
          <a:p>
            <a:pPr algn="ctr">
              <a:defRPr sz="900" b="0" i="0">
                <a:solidFill>
                  <a:srgbClr val="666666"/>
                </a:solidFill>
                <a:latin typeface="Calibri"/>
              </a:defRPr>
            </a:pPr>
            <a:r>
              <a:t>Crop Risk</a:t>
            </a:r>
            <a:br/>
            <a:r>
              <a:t>Accuracy</a:t>
            </a:r>
          </a:p>
        </p:txBody>
      </p:sp>
      <p:sp>
        <p:nvSpPr>
          <p:cNvPr id="15" name="Rounded Rectangle 14"/>
          <p:cNvSpPr/>
          <p:nvPr/>
        </p:nvSpPr>
        <p:spPr>
          <a:xfrm>
            <a:off x="2423160" y="3699240"/>
            <a:ext cx="1783080" cy="1051560"/>
          </a:xfrm>
          <a:prstGeom prst="roundRect">
            <a:avLst/>
          </a:prstGeom>
          <a:solidFill>
            <a:srgbClr val="FFFFFF"/>
          </a:solidFill>
          <a:ln w="254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68880" y="3744960"/>
            <a:ext cx="1691640" cy="457200"/>
          </a:xfrm>
          <a:prstGeom prst="rect">
            <a:avLst/>
          </a:prstGeom>
          <a:noFill/>
        </p:spPr>
        <p:txBody>
          <a:bodyPr wrap="square">
            <a:spAutoFit/>
          </a:bodyPr>
          <a:lstStyle/>
          <a:p>
            <a:pPr algn="ctr">
              <a:defRPr sz="2000" b="1" i="0">
                <a:solidFill>
                  <a:srgbClr val="1565C0"/>
                </a:solidFill>
                <a:latin typeface="Calibri"/>
              </a:defRPr>
            </a:pPr>
            <a:r>
              <a:t>R² = 0.93</a:t>
            </a:r>
          </a:p>
        </p:txBody>
      </p:sp>
      <p:sp>
        <p:nvSpPr>
          <p:cNvPr id="17" name="TextBox 16"/>
          <p:cNvSpPr txBox="1"/>
          <p:nvPr/>
        </p:nvSpPr>
        <p:spPr>
          <a:xfrm>
            <a:off x="2468880" y="4156440"/>
            <a:ext cx="1691640" cy="457200"/>
          </a:xfrm>
          <a:prstGeom prst="rect">
            <a:avLst/>
          </a:prstGeom>
          <a:noFill/>
        </p:spPr>
        <p:txBody>
          <a:bodyPr wrap="square">
            <a:spAutoFit/>
          </a:bodyPr>
          <a:lstStyle/>
          <a:p>
            <a:pPr algn="ctr">
              <a:defRPr sz="900" b="0" i="0">
                <a:solidFill>
                  <a:srgbClr val="666666"/>
                </a:solidFill>
                <a:latin typeface="Calibri"/>
              </a:defRPr>
            </a:pPr>
            <a:r>
              <a:t>1-Day Price</a:t>
            </a:r>
            <a:br/>
            <a:r>
              <a:t>Forecast</a:t>
            </a:r>
          </a:p>
        </p:txBody>
      </p:sp>
      <p:sp>
        <p:nvSpPr>
          <p:cNvPr id="18" name="Rounded Rectangle 17"/>
          <p:cNvSpPr/>
          <p:nvPr/>
        </p:nvSpPr>
        <p:spPr>
          <a:xfrm>
            <a:off x="4343400" y="3699240"/>
            <a:ext cx="1783080" cy="1051560"/>
          </a:xfrm>
          <a:prstGeom prst="roundRect">
            <a:avLst/>
          </a:prstGeom>
          <a:solidFill>
            <a:srgbClr val="FFFFFF"/>
          </a:solidFill>
          <a:ln w="2540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0" y="3744960"/>
            <a:ext cx="1691640" cy="457200"/>
          </a:xfrm>
          <a:prstGeom prst="rect">
            <a:avLst/>
          </a:prstGeom>
          <a:noFill/>
        </p:spPr>
        <p:txBody>
          <a:bodyPr wrap="square">
            <a:spAutoFit/>
          </a:bodyPr>
          <a:lstStyle/>
          <a:p>
            <a:pPr algn="ctr">
              <a:defRPr sz="2000" b="1" i="0">
                <a:solidFill>
                  <a:srgbClr val="1B5E20"/>
                </a:solidFill>
                <a:latin typeface="Calibri"/>
              </a:defRPr>
            </a:pPr>
            <a:r>
              <a:t>6.1M+</a:t>
            </a:r>
          </a:p>
        </p:txBody>
      </p:sp>
      <p:sp>
        <p:nvSpPr>
          <p:cNvPr id="20" name="TextBox 19"/>
          <p:cNvSpPr txBox="1"/>
          <p:nvPr/>
        </p:nvSpPr>
        <p:spPr>
          <a:xfrm>
            <a:off x="4389120" y="4156440"/>
            <a:ext cx="1691640" cy="457200"/>
          </a:xfrm>
          <a:prstGeom prst="rect">
            <a:avLst/>
          </a:prstGeom>
          <a:noFill/>
        </p:spPr>
        <p:txBody>
          <a:bodyPr wrap="square">
            <a:spAutoFit/>
          </a:bodyPr>
          <a:lstStyle/>
          <a:p>
            <a:pPr algn="ctr">
              <a:defRPr sz="900" b="0" i="0">
                <a:solidFill>
                  <a:srgbClr val="666666"/>
                </a:solidFill>
                <a:latin typeface="Calibri"/>
              </a:defRPr>
            </a:pPr>
            <a:r>
              <a:t>Mandi Records</a:t>
            </a:r>
            <a:br/>
            <a:r>
              <a:t>Processed</a:t>
            </a:r>
          </a:p>
        </p:txBody>
      </p:sp>
      <p:sp>
        <p:nvSpPr>
          <p:cNvPr id="21" name="Rounded Rectangle 20"/>
          <p:cNvSpPr/>
          <p:nvPr/>
        </p:nvSpPr>
        <p:spPr>
          <a:xfrm>
            <a:off x="6263640" y="3699240"/>
            <a:ext cx="1783080" cy="1051560"/>
          </a:xfrm>
          <a:prstGeom prst="roundRect">
            <a:avLst/>
          </a:prstGeom>
          <a:solidFill>
            <a:srgbClr val="FFFFFF"/>
          </a:solidFill>
          <a:ln w="254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3744960"/>
            <a:ext cx="1691640" cy="457200"/>
          </a:xfrm>
          <a:prstGeom prst="rect">
            <a:avLst/>
          </a:prstGeom>
          <a:noFill/>
        </p:spPr>
        <p:txBody>
          <a:bodyPr wrap="square">
            <a:spAutoFit/>
          </a:bodyPr>
          <a:lstStyle/>
          <a:p>
            <a:pPr algn="ctr">
              <a:defRPr sz="2000" b="1" i="0">
                <a:solidFill>
                  <a:srgbClr val="E65100"/>
                </a:solidFill>
                <a:latin typeface="Calibri"/>
              </a:defRPr>
            </a:pPr>
            <a:r>
              <a:t>35/36</a:t>
            </a:r>
          </a:p>
        </p:txBody>
      </p:sp>
      <p:sp>
        <p:nvSpPr>
          <p:cNvPr id="23" name="TextBox 22"/>
          <p:cNvSpPr txBox="1"/>
          <p:nvPr/>
        </p:nvSpPr>
        <p:spPr>
          <a:xfrm>
            <a:off x="6309360" y="4156440"/>
            <a:ext cx="1691640" cy="457200"/>
          </a:xfrm>
          <a:prstGeom prst="rect">
            <a:avLst/>
          </a:prstGeom>
          <a:noFill/>
        </p:spPr>
        <p:txBody>
          <a:bodyPr wrap="square">
            <a:spAutoFit/>
          </a:bodyPr>
          <a:lstStyle/>
          <a:p>
            <a:pPr algn="ctr">
              <a:defRPr sz="900" b="0" i="0">
                <a:solidFill>
                  <a:srgbClr val="666666"/>
                </a:solidFill>
                <a:latin typeface="Calibri"/>
              </a:defRPr>
            </a:pPr>
            <a:r>
              <a:t>Districts</a:t>
            </a:r>
            <a:br/>
            <a:r>
              <a:t>Covered</a:t>
            </a:r>
          </a:p>
        </p:txBody>
      </p:sp>
      <p:sp>
        <p:nvSpPr>
          <p:cNvPr id="24" name="Rounded Rectangle 23"/>
          <p:cNvSpPr/>
          <p:nvPr/>
        </p:nvSpPr>
        <p:spPr>
          <a:xfrm>
            <a:off x="8183880" y="3699240"/>
            <a:ext cx="1783080" cy="1051560"/>
          </a:xfrm>
          <a:prstGeom prst="roundRect">
            <a:avLst/>
          </a:prstGeom>
          <a:solidFill>
            <a:srgbClr val="FFFFFF"/>
          </a:solidFill>
          <a:ln w="2540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0" y="3744960"/>
            <a:ext cx="1691640" cy="457200"/>
          </a:xfrm>
          <a:prstGeom prst="rect">
            <a:avLst/>
          </a:prstGeom>
          <a:noFill/>
        </p:spPr>
        <p:txBody>
          <a:bodyPr wrap="square">
            <a:spAutoFit/>
          </a:bodyPr>
          <a:lstStyle/>
          <a:p>
            <a:pPr algn="ctr">
              <a:defRPr sz="2000" b="1" i="0">
                <a:solidFill>
                  <a:srgbClr val="6A1B9A"/>
                </a:solidFill>
                <a:latin typeface="Calibri"/>
              </a:defRPr>
            </a:pPr>
            <a:r>
              <a:t>15</a:t>
            </a:r>
          </a:p>
        </p:txBody>
      </p:sp>
      <p:sp>
        <p:nvSpPr>
          <p:cNvPr id="26" name="TextBox 25"/>
          <p:cNvSpPr txBox="1"/>
          <p:nvPr/>
        </p:nvSpPr>
        <p:spPr>
          <a:xfrm>
            <a:off x="8229600" y="4156440"/>
            <a:ext cx="1691640" cy="457200"/>
          </a:xfrm>
          <a:prstGeom prst="rect">
            <a:avLst/>
          </a:prstGeom>
          <a:noFill/>
        </p:spPr>
        <p:txBody>
          <a:bodyPr wrap="square">
            <a:spAutoFit/>
          </a:bodyPr>
          <a:lstStyle/>
          <a:p>
            <a:pPr algn="ctr">
              <a:defRPr sz="900" b="0" i="0">
                <a:solidFill>
                  <a:srgbClr val="666666"/>
                </a:solidFill>
                <a:latin typeface="Calibri"/>
              </a:defRPr>
            </a:pPr>
            <a:r>
              <a:t>Vet API</a:t>
            </a:r>
            <a:br/>
            <a:r>
              <a:t>Endpoints</a:t>
            </a:r>
          </a:p>
        </p:txBody>
      </p:sp>
      <p:sp>
        <p:nvSpPr>
          <p:cNvPr id="27" name="Rounded Rectangle 26"/>
          <p:cNvSpPr/>
          <p:nvPr/>
        </p:nvSpPr>
        <p:spPr>
          <a:xfrm>
            <a:off x="10104120" y="3699240"/>
            <a:ext cx="1783080" cy="1051560"/>
          </a:xfrm>
          <a:prstGeom prst="roundRect">
            <a:avLst/>
          </a:prstGeom>
          <a:solidFill>
            <a:srgbClr val="FFFFFF"/>
          </a:solidFill>
          <a:ln w="25400">
            <a:solidFill>
              <a:srgbClr val="0088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49840" y="3744960"/>
            <a:ext cx="1691640" cy="457200"/>
          </a:xfrm>
          <a:prstGeom prst="rect">
            <a:avLst/>
          </a:prstGeom>
          <a:noFill/>
        </p:spPr>
        <p:txBody>
          <a:bodyPr wrap="square">
            <a:spAutoFit/>
          </a:bodyPr>
          <a:lstStyle/>
          <a:p>
            <a:pPr algn="ctr">
              <a:defRPr sz="2000" b="1" i="0">
                <a:solidFill>
                  <a:srgbClr val="008888"/>
                </a:solidFill>
                <a:latin typeface="Calibri"/>
              </a:defRPr>
            </a:pPr>
            <a:r>
              <a:t>&lt; 500ms</a:t>
            </a:r>
          </a:p>
        </p:txBody>
      </p:sp>
      <p:sp>
        <p:nvSpPr>
          <p:cNvPr id="29" name="TextBox 28"/>
          <p:cNvSpPr txBox="1"/>
          <p:nvPr/>
        </p:nvSpPr>
        <p:spPr>
          <a:xfrm>
            <a:off x="10149840" y="4156440"/>
            <a:ext cx="1691640" cy="457200"/>
          </a:xfrm>
          <a:prstGeom prst="rect">
            <a:avLst/>
          </a:prstGeom>
          <a:noFill/>
        </p:spPr>
        <p:txBody>
          <a:bodyPr wrap="square">
            <a:spAutoFit/>
          </a:bodyPr>
          <a:lstStyle/>
          <a:p>
            <a:pPr algn="ctr">
              <a:defRPr sz="900" b="0" i="0">
                <a:solidFill>
                  <a:srgbClr val="666666"/>
                </a:solidFill>
                <a:latin typeface="Calibri"/>
              </a:defRPr>
            </a:pPr>
            <a:r>
              <a:t>API Response</a:t>
            </a:r>
            <a:br/>
            <a:r>
              <a:t>Time</a:t>
            </a:r>
          </a:p>
        </p:txBody>
      </p:sp>
      <p:pic>
        <p:nvPicPr>
          <p:cNvPr id="30" name="Picture 29" descr="data_coverage.png"/>
          <p:cNvPicPr>
            <a:picLocks noChangeAspect="1"/>
          </p:cNvPicPr>
          <p:nvPr/>
        </p:nvPicPr>
        <p:blipFill>
          <a:blip r:embed="rId5"/>
          <a:stretch>
            <a:fillRect/>
          </a:stretch>
        </p:blipFill>
        <p:spPr>
          <a:xfrm>
            <a:off x="320040" y="4912860"/>
            <a:ext cx="4023360" cy="1421399"/>
          </a:xfrm>
          <a:prstGeom prst="rect">
            <a:avLst/>
          </a:prstGeom>
        </p:spPr>
      </p:pic>
      <p:sp>
        <p:nvSpPr>
          <p:cNvPr id="31" name="TextBox 30"/>
          <p:cNvSpPr txBox="1"/>
          <p:nvPr/>
        </p:nvSpPr>
        <p:spPr>
          <a:xfrm>
            <a:off x="5486400" y="5486400"/>
            <a:ext cx="6400800" cy="274320"/>
          </a:xfrm>
          <a:prstGeom prst="rect">
            <a:avLst/>
          </a:prstGeom>
          <a:noFill/>
        </p:spPr>
        <p:txBody>
          <a:bodyPr wrap="square">
            <a:spAutoFit/>
          </a:bodyPr>
          <a:lstStyle/>
          <a:p>
            <a:pPr algn="l">
              <a:defRPr sz="1100" b="1" i="0">
                <a:solidFill>
                  <a:srgbClr val="1B5E20"/>
                </a:solidFill>
                <a:latin typeface="Calibri"/>
              </a:defRPr>
            </a:pPr>
            <a:r>
              <a:t>PRACTICAL APPLICATIONS:</a:t>
            </a:r>
          </a:p>
        </p:txBody>
      </p:sp>
      <p:sp>
        <p:nvSpPr>
          <p:cNvPr id="32" name="TextBox 31"/>
          <p:cNvSpPr txBox="1"/>
          <p:nvPr/>
        </p:nvSpPr>
        <p:spPr>
          <a:xfrm>
            <a:off x="5486400" y="5760720"/>
            <a:ext cx="6400800" cy="914400"/>
          </a:xfrm>
          <a:prstGeom prst="rect">
            <a:avLst/>
          </a:prstGeom>
          <a:noFill/>
        </p:spPr>
        <p:txBody>
          <a:bodyPr wrap="square">
            <a:spAutoFit/>
          </a:bodyPr>
          <a:lstStyle/>
          <a:p>
            <a:pPr algn="l">
              <a:lnSpc>
                <a:spcPts val="1300"/>
              </a:lnSpc>
              <a:spcAft>
                <a:spcPts val="400"/>
              </a:spcAft>
              <a:defRPr sz="1000" b="0">
                <a:solidFill>
                  <a:srgbClr val="333333"/>
                </a:solidFill>
                <a:latin typeface="Calibri"/>
              </a:defRPr>
            </a:pPr>
            <a:r>
              <a:t>●  Farmers: Optimal sell timing, market selection, risk preparedness</a:t>
            </a:r>
          </a:p>
          <a:p>
            <a:pPr algn="l">
              <a:lnSpc>
                <a:spcPts val="1300"/>
              </a:lnSpc>
              <a:spcAft>
                <a:spcPts val="400"/>
              </a:spcAft>
              <a:defRPr sz="1000" b="0">
                <a:solidFill>
                  <a:srgbClr val="333333"/>
                </a:solidFill>
                <a:latin typeface="Calibri"/>
              </a:defRPr>
            </a:pPr>
            <a:r>
              <a:t>●  Veterinary: Quick verified doctor discovery, emergency response</a:t>
            </a:r>
          </a:p>
          <a:p>
            <a:pPr algn="l">
              <a:lnSpc>
                <a:spcPts val="1300"/>
              </a:lnSpc>
              <a:spcAft>
                <a:spcPts val="400"/>
              </a:spcAft>
              <a:defRPr sz="1000" b="0">
                <a:solidFill>
                  <a:srgbClr val="333333"/>
                </a:solidFill>
                <a:latin typeface="Calibri"/>
              </a:defRPr>
            </a:pPr>
            <a:r>
              <a:t>●  Government: Data-driven agriculture policy insights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Conclusion &amp; Future Scope</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11/13</a:t>
            </a:r>
          </a:p>
        </p:txBody>
      </p:sp>
      <p:sp>
        <p:nvSpPr>
          <p:cNvPr id="8" name="TextBox 7"/>
          <p:cNvSpPr txBox="1"/>
          <p:nvPr/>
        </p:nvSpPr>
        <p:spPr>
          <a:xfrm>
            <a:off x="548640" y="1097280"/>
            <a:ext cx="5486400" cy="320040"/>
          </a:xfrm>
          <a:prstGeom prst="rect">
            <a:avLst/>
          </a:prstGeom>
          <a:noFill/>
        </p:spPr>
        <p:txBody>
          <a:bodyPr wrap="square">
            <a:spAutoFit/>
          </a:bodyPr>
          <a:lstStyle/>
          <a:p>
            <a:pPr algn="l">
              <a:defRPr sz="1400" b="1" i="0">
                <a:solidFill>
                  <a:srgbClr val="1B5E20"/>
                </a:solidFill>
                <a:latin typeface="Calibri"/>
              </a:defRPr>
            </a:pPr>
            <a:r>
              <a:t>KEY ACHIEVEMENTS</a:t>
            </a:r>
          </a:p>
        </p:txBody>
      </p:sp>
      <p:sp>
        <p:nvSpPr>
          <p:cNvPr id="9" name="TextBox 8"/>
          <p:cNvSpPr txBox="1"/>
          <p:nvPr/>
        </p:nvSpPr>
        <p:spPr>
          <a:xfrm>
            <a:off x="548640" y="1463040"/>
            <a:ext cx="5486400" cy="2560320"/>
          </a:xfrm>
          <a:prstGeom prst="rect">
            <a:avLst/>
          </a:prstGeom>
          <a:noFill/>
        </p:spPr>
        <p:txBody>
          <a:bodyPr wrap="square">
            <a:spAutoFit/>
          </a:bodyPr>
          <a:lstStyle/>
          <a:p>
            <a:pPr algn="l">
              <a:lnSpc>
                <a:spcPts val="1690"/>
              </a:lnSpc>
              <a:spcAft>
                <a:spcPts val="520"/>
              </a:spcAft>
              <a:defRPr sz="1300" b="0">
                <a:solidFill>
                  <a:srgbClr val="333333"/>
                </a:solidFill>
                <a:latin typeface="Calibri"/>
              </a:defRPr>
            </a:pPr>
            <a:r>
              <a:t>✅  Built production-quality pipeline: 6.1M records, 4 sources</a:t>
            </a:r>
          </a:p>
          <a:p>
            <a:pPr algn="l">
              <a:lnSpc>
                <a:spcPts val="1690"/>
              </a:lnSpc>
              <a:spcAft>
                <a:spcPts val="520"/>
              </a:spcAft>
              <a:defRPr sz="1300" b="0">
                <a:solidFill>
                  <a:srgbClr val="333333"/>
                </a:solidFill>
                <a:latin typeface="Calibri"/>
              </a:defRPr>
            </a:pPr>
            <a:r>
              <a:t>✅  Crop Risk Advisor: 87.4% acc with physics-informed features</a:t>
            </a:r>
          </a:p>
          <a:p>
            <a:pPr algn="l">
              <a:lnSpc>
                <a:spcPts val="1690"/>
              </a:lnSpc>
              <a:spcAft>
                <a:spcPts val="520"/>
              </a:spcAft>
              <a:defRPr sz="1300" b="0">
                <a:solidFill>
                  <a:srgbClr val="333333"/>
                </a:solidFill>
                <a:latin typeface="Calibri"/>
              </a:defRPr>
            </a:pPr>
            <a:r>
              <a:t>✅  Price Intelligence: R²=0.93 with conformal prediction intervals</a:t>
            </a:r>
          </a:p>
          <a:p>
            <a:pPr algn="l">
              <a:lnSpc>
                <a:spcPts val="1690"/>
              </a:lnSpc>
              <a:spcAft>
                <a:spcPts val="520"/>
              </a:spcAft>
              <a:defRPr sz="1300" b="0">
                <a:solidFill>
                  <a:srgbClr val="333333"/>
                </a:solidFill>
                <a:latin typeface="Calibri"/>
              </a:defRPr>
            </a:pPr>
            <a:r>
              <a:t>✅  Full-stack web app: 3 dashboards, modern responsive UI</a:t>
            </a:r>
          </a:p>
          <a:p>
            <a:pPr algn="l">
              <a:lnSpc>
                <a:spcPts val="1690"/>
              </a:lnSpc>
              <a:spcAft>
                <a:spcPts val="520"/>
              </a:spcAft>
              <a:defRPr sz="1300" b="0">
                <a:solidFill>
                  <a:srgbClr val="333333"/>
                </a:solidFill>
                <a:latin typeface="Calibri"/>
              </a:defRPr>
            </a:pPr>
            <a:r>
              <a:t>✅  Veterinary module: 15 endpoints, booking + emergency SOS</a:t>
            </a:r>
          </a:p>
          <a:p>
            <a:pPr algn="l">
              <a:lnSpc>
                <a:spcPts val="1690"/>
              </a:lnSpc>
              <a:spcAft>
                <a:spcPts val="520"/>
              </a:spcAft>
              <a:defRPr sz="1300" b="0">
                <a:solidFill>
                  <a:srgbClr val="333333"/>
                </a:solidFill>
                <a:latin typeface="Calibri"/>
              </a:defRPr>
            </a:pPr>
            <a:r>
              <a:t>✅  All 6 objectives met with measurable success metrics</a:t>
            </a:r>
          </a:p>
        </p:txBody>
      </p:sp>
      <p:sp>
        <p:nvSpPr>
          <p:cNvPr id="10" name="TextBox 9"/>
          <p:cNvSpPr txBox="1"/>
          <p:nvPr/>
        </p:nvSpPr>
        <p:spPr>
          <a:xfrm>
            <a:off x="548640" y="3840480"/>
            <a:ext cx="5486400" cy="320040"/>
          </a:xfrm>
          <a:prstGeom prst="rect">
            <a:avLst/>
          </a:prstGeom>
          <a:noFill/>
        </p:spPr>
        <p:txBody>
          <a:bodyPr wrap="square">
            <a:spAutoFit/>
          </a:bodyPr>
          <a:lstStyle/>
          <a:p>
            <a:pPr algn="l">
              <a:defRPr sz="1400" b="1" i="0">
                <a:solidFill>
                  <a:srgbClr val="1565C0"/>
                </a:solidFill>
                <a:latin typeface="Calibri"/>
              </a:defRPr>
            </a:pPr>
            <a:r>
              <a:t>TECHNICAL CONTRIBUTIONS</a:t>
            </a:r>
          </a:p>
        </p:txBody>
      </p:sp>
      <p:sp>
        <p:nvSpPr>
          <p:cNvPr id="11" name="TextBox 10"/>
          <p:cNvSpPr txBox="1"/>
          <p:nvPr/>
        </p:nvSpPr>
        <p:spPr>
          <a:xfrm>
            <a:off x="548640" y="4206240"/>
            <a:ext cx="5486400" cy="1828800"/>
          </a:xfrm>
          <a:prstGeom prst="rect">
            <a:avLst/>
          </a:prstGeom>
          <a:noFill/>
        </p:spPr>
        <p:txBody>
          <a:bodyPr wrap="square">
            <a:spAutoFit/>
          </a:bodyPr>
          <a:lstStyle/>
          <a:p>
            <a:pPr algn="l">
              <a:lnSpc>
                <a:spcPts val="1560"/>
              </a:lnSpc>
              <a:spcAft>
                <a:spcPts val="480"/>
              </a:spcAft>
              <a:defRPr sz="1200" b="0">
                <a:solidFill>
                  <a:srgbClr val="333333"/>
                </a:solidFill>
                <a:latin typeface="Calibri"/>
              </a:defRPr>
            </a:pPr>
            <a:r>
              <a:t>●  First: Physics-informed ML (GDD/VPD) for MH crop risk</a:t>
            </a:r>
          </a:p>
          <a:p>
            <a:pPr algn="l">
              <a:lnSpc>
                <a:spcPts val="1560"/>
              </a:lnSpc>
              <a:spcAft>
                <a:spcPts val="480"/>
              </a:spcAft>
              <a:defRPr sz="1200" b="0">
                <a:solidFill>
                  <a:srgbClr val="333333"/>
                </a:solidFill>
                <a:latin typeface="Calibri"/>
              </a:defRPr>
            </a:pPr>
            <a:r>
              <a:t>●  First: Conformal prediction for agricultural price forecasts</a:t>
            </a:r>
          </a:p>
          <a:p>
            <a:pPr algn="l">
              <a:lnSpc>
                <a:spcPts val="1560"/>
              </a:lnSpc>
              <a:spcAft>
                <a:spcPts val="480"/>
              </a:spcAft>
              <a:defRPr sz="1200" b="0">
                <a:solidFill>
                  <a:srgbClr val="333333"/>
                </a:solidFill>
                <a:latin typeface="Calibri"/>
              </a:defRPr>
            </a:pPr>
            <a:r>
              <a:t>●  First: Unified agri-intelligence + vet platform for MH</a:t>
            </a:r>
          </a:p>
          <a:p>
            <a:pPr algn="l">
              <a:lnSpc>
                <a:spcPts val="1560"/>
              </a:lnSpc>
              <a:spcAft>
                <a:spcPts val="480"/>
              </a:spcAft>
              <a:defRPr sz="1200" b="0">
                <a:solidFill>
                  <a:srgbClr val="333333"/>
                </a:solidFill>
                <a:latin typeface="Calibri"/>
              </a:defRPr>
            </a:pPr>
            <a:r>
              <a:t>●  Open-source stack: Rs 0 development cost</a:t>
            </a:r>
          </a:p>
        </p:txBody>
      </p:sp>
      <p:sp>
        <p:nvSpPr>
          <p:cNvPr id="12" name="TextBox 11"/>
          <p:cNvSpPr txBox="1"/>
          <p:nvPr/>
        </p:nvSpPr>
        <p:spPr>
          <a:xfrm>
            <a:off x="6400800" y="1097280"/>
            <a:ext cx="5486400" cy="320040"/>
          </a:xfrm>
          <a:prstGeom prst="rect">
            <a:avLst/>
          </a:prstGeom>
          <a:noFill/>
        </p:spPr>
        <p:txBody>
          <a:bodyPr wrap="square">
            <a:spAutoFit/>
          </a:bodyPr>
          <a:lstStyle/>
          <a:p>
            <a:pPr algn="l">
              <a:defRPr sz="1400" b="1" i="0">
                <a:solidFill>
                  <a:srgbClr val="E65100"/>
                </a:solidFill>
                <a:latin typeface="Calibri"/>
              </a:defRPr>
            </a:pPr>
            <a:r>
              <a:t>FUTURE SCOPE (Phase 2-3)</a:t>
            </a:r>
          </a:p>
        </p:txBody>
      </p:sp>
      <p:sp>
        <p:nvSpPr>
          <p:cNvPr id="13" name="TextBox 12"/>
          <p:cNvSpPr txBox="1"/>
          <p:nvPr/>
        </p:nvSpPr>
        <p:spPr>
          <a:xfrm>
            <a:off x="6400800" y="1463040"/>
            <a:ext cx="5303520" cy="2560320"/>
          </a:xfrm>
          <a:prstGeom prst="rect">
            <a:avLst/>
          </a:prstGeom>
          <a:noFill/>
        </p:spPr>
        <p:txBody>
          <a:bodyPr wrap="square">
            <a:spAutoFit/>
          </a:bodyPr>
          <a:lstStyle/>
          <a:p>
            <a:pPr algn="l">
              <a:lnSpc>
                <a:spcPts val="1560"/>
              </a:lnSpc>
              <a:spcAft>
                <a:spcPts val="480"/>
              </a:spcAft>
              <a:defRPr sz="1200" b="0">
                <a:solidFill>
                  <a:srgbClr val="333333"/>
                </a:solidFill>
                <a:latin typeface="Calibri"/>
              </a:defRPr>
            </a:pPr>
            <a:r>
              <a:t>▶  React Native mobile app (Android + iOS)</a:t>
            </a:r>
          </a:p>
          <a:p>
            <a:pPr algn="l">
              <a:lnSpc>
                <a:spcPts val="1560"/>
              </a:lnSpc>
              <a:spcAft>
                <a:spcPts val="480"/>
              </a:spcAft>
              <a:defRPr sz="1200" b="0">
                <a:solidFill>
                  <a:srgbClr val="333333"/>
                </a:solidFill>
                <a:latin typeface="Calibri"/>
              </a:defRPr>
            </a:pPr>
            <a:r>
              <a:t>▶  Marathi language support for rural adoption</a:t>
            </a:r>
          </a:p>
          <a:p>
            <a:pPr algn="l">
              <a:lnSpc>
                <a:spcPts val="1560"/>
              </a:lnSpc>
              <a:spcAft>
                <a:spcPts val="480"/>
              </a:spcAft>
              <a:defRPr sz="1200" b="0">
                <a:solidFill>
                  <a:srgbClr val="333333"/>
                </a:solidFill>
                <a:latin typeface="Calibri"/>
              </a:defRPr>
            </a:pPr>
            <a:r>
              <a:t>▶  iTransformer for improved long-horizon forecasts</a:t>
            </a:r>
          </a:p>
          <a:p>
            <a:pPr algn="l">
              <a:lnSpc>
                <a:spcPts val="1560"/>
              </a:lnSpc>
              <a:spcAft>
                <a:spcPts val="480"/>
              </a:spcAft>
              <a:defRPr sz="1200" b="0">
                <a:solidFill>
                  <a:srgbClr val="333333"/>
                </a:solidFill>
                <a:latin typeface="Calibri"/>
              </a:defRPr>
            </a:pPr>
            <a:r>
              <a:t>▶  Real-time price alerts via WebSocket push</a:t>
            </a:r>
          </a:p>
          <a:p>
            <a:pPr algn="l">
              <a:lnSpc>
                <a:spcPts val="1560"/>
              </a:lnSpc>
              <a:spcAft>
                <a:spcPts val="480"/>
              </a:spcAft>
              <a:defRPr sz="1200" b="0">
                <a:solidFill>
                  <a:srgbClr val="333333"/>
                </a:solidFill>
                <a:latin typeface="Calibri"/>
              </a:defRPr>
            </a:pPr>
            <a:r>
              <a:t>▶  GPS-based nearest vet doctor discovery</a:t>
            </a:r>
          </a:p>
          <a:p>
            <a:pPr algn="l">
              <a:lnSpc>
                <a:spcPts val="1560"/>
              </a:lnSpc>
              <a:spcAft>
                <a:spcPts val="480"/>
              </a:spcAft>
              <a:defRPr sz="1200" b="0">
                <a:solidFill>
                  <a:srgbClr val="333333"/>
                </a:solidFill>
                <a:latin typeface="Calibri"/>
              </a:defRPr>
            </a:pPr>
            <a:r>
              <a:t>▶  Telemedicine video consultations</a:t>
            </a:r>
          </a:p>
          <a:p>
            <a:pPr algn="l">
              <a:lnSpc>
                <a:spcPts val="1560"/>
              </a:lnSpc>
              <a:spcAft>
                <a:spcPts val="480"/>
              </a:spcAft>
              <a:defRPr sz="1200" b="0">
                <a:solidFill>
                  <a:srgbClr val="333333"/>
                </a:solidFill>
                <a:latin typeface="Calibri"/>
              </a:defRPr>
            </a:pPr>
            <a:r>
              <a:t>▶  Crop disease identification via phone camera</a:t>
            </a:r>
          </a:p>
        </p:txBody>
      </p:sp>
      <p:pic>
        <p:nvPicPr>
          <p:cNvPr id="14" name="Picture 13" descr="deployment_architecture.png"/>
          <p:cNvPicPr>
            <a:picLocks noChangeAspect="1"/>
          </p:cNvPicPr>
          <p:nvPr/>
        </p:nvPicPr>
        <p:blipFill>
          <a:blip r:embed="rId3"/>
          <a:stretch>
            <a:fillRect/>
          </a:stretch>
        </p:blipFill>
        <p:spPr>
          <a:xfrm>
            <a:off x="6279185" y="3306897"/>
            <a:ext cx="5303520" cy="3322504"/>
          </a:xfrm>
          <a:prstGeom prst="rect">
            <a:avLst/>
          </a:prstGeom>
        </p:spPr>
      </p:pic>
      <p:sp>
        <p:nvSpPr>
          <p:cNvPr id="15" name="TextBox 14"/>
          <p:cNvSpPr txBox="1"/>
          <p:nvPr/>
        </p:nvSpPr>
        <p:spPr>
          <a:xfrm>
            <a:off x="6400800" y="6035040"/>
            <a:ext cx="5303520" cy="274320"/>
          </a:xfrm>
          <a:prstGeom prst="rect">
            <a:avLst/>
          </a:prstGeom>
          <a:noFill/>
        </p:spPr>
        <p:txBody>
          <a:bodyPr wrap="square">
            <a:spAutoFit/>
          </a:bodyPr>
          <a:lstStyle/>
          <a:p>
            <a:pPr algn="ctr">
              <a:defRPr sz="1000" b="0" i="1">
                <a:solidFill>
                  <a:srgbClr val="666666"/>
                </a:solidFill>
                <a:latin typeface="Calibri"/>
              </a:defRPr>
            </a:pPr>
            <a:r>
              <a:t>Fig: Production Deployment 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37960"/>
            <a:ext cx="12191695" cy="3200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6537960"/>
            <a:ext cx="7315200" cy="320040"/>
          </a:xfrm>
          <a:prstGeom prst="rect">
            <a:avLst/>
          </a:prstGeom>
          <a:noFill/>
        </p:spPr>
        <p:txBody>
          <a:bodyPr wrap="square">
            <a:spAutoFit/>
          </a:bodyPr>
          <a:lstStyle/>
          <a:p>
            <a:pPr algn="l">
              <a:defRPr sz="800" b="0" i="0">
                <a:solidFill>
                  <a:srgbClr val="666666"/>
                </a:solidFill>
                <a:latin typeface="Calibri"/>
              </a:defRPr>
            </a:pPr>
            <a:r>
              <a:t>K.E. Society's Rajarambapu Institute of Technology (Polytechnic), Lohegaon, Pune - 47</a:t>
            </a:r>
          </a:p>
        </p:txBody>
      </p:sp>
      <p:sp>
        <p:nvSpPr>
          <p:cNvPr id="5" name="Rectangle 4"/>
          <p:cNvSpPr/>
          <p:nvPr/>
        </p:nvSpPr>
        <p:spPr>
          <a:xfrm>
            <a:off x="548640" y="640080"/>
            <a:ext cx="54864" cy="3200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228600"/>
            <a:ext cx="8229600" cy="731520"/>
          </a:xfrm>
          <a:prstGeom prst="rect">
            <a:avLst/>
          </a:prstGeom>
          <a:noFill/>
        </p:spPr>
        <p:txBody>
          <a:bodyPr wrap="square">
            <a:spAutoFit/>
          </a:bodyPr>
          <a:lstStyle/>
          <a:p>
            <a:pPr algn="l">
              <a:defRPr sz="2800" b="1" i="0">
                <a:solidFill>
                  <a:srgbClr val="1B5E20"/>
                </a:solidFill>
                <a:latin typeface="Calibri"/>
              </a:defRPr>
            </a:pPr>
            <a:r>
              <a:t>References</a:t>
            </a:r>
          </a:p>
        </p:txBody>
      </p:sp>
      <p:sp>
        <p:nvSpPr>
          <p:cNvPr id="7" name="TextBox 6"/>
          <p:cNvSpPr txBox="1"/>
          <p:nvPr/>
        </p:nvSpPr>
        <p:spPr>
          <a:xfrm>
            <a:off x="11247120" y="6446520"/>
            <a:ext cx="822960" cy="320040"/>
          </a:xfrm>
          <a:prstGeom prst="rect">
            <a:avLst/>
          </a:prstGeom>
          <a:noFill/>
        </p:spPr>
        <p:txBody>
          <a:bodyPr wrap="square">
            <a:spAutoFit/>
          </a:bodyPr>
          <a:lstStyle/>
          <a:p>
            <a:pPr algn="r">
              <a:defRPr sz="1000" b="0" i="0">
                <a:solidFill>
                  <a:srgbClr val="666666"/>
                </a:solidFill>
                <a:latin typeface="Calibri"/>
              </a:defRPr>
            </a:pPr>
            <a:r>
              <a:t>12/13</a:t>
            </a:r>
          </a:p>
        </p:txBody>
      </p:sp>
      <p:sp>
        <p:nvSpPr>
          <p:cNvPr id="8" name="TextBox 7"/>
          <p:cNvSpPr txBox="1"/>
          <p:nvPr/>
        </p:nvSpPr>
        <p:spPr>
          <a:xfrm>
            <a:off x="457200" y="1097280"/>
            <a:ext cx="5669280" cy="5486400"/>
          </a:xfrm>
          <a:prstGeom prst="rect">
            <a:avLst/>
          </a:prstGeom>
          <a:noFill/>
        </p:spPr>
        <p:txBody>
          <a:bodyPr wrap="square">
            <a:spAutoFit/>
          </a:bodyPr>
          <a:lstStyle/>
          <a:p>
            <a:pPr algn="l">
              <a:lnSpc>
                <a:spcPts val="1150"/>
              </a:lnSpc>
              <a:spcAft>
                <a:spcPts val="400"/>
              </a:spcAft>
              <a:defRPr sz="1000" b="0">
                <a:solidFill>
                  <a:srgbClr val="333333"/>
                </a:solidFill>
                <a:latin typeface="Calibri"/>
              </a:defRPr>
            </a:pPr>
            <a:r>
              <a:t>[1]  Data.gov.in - AGMARKNET Agricultural Market</a:t>
            </a:r>
            <a:br/>
            <a:r>
              <a:t>      Prices, Govt. of India, 2001-2026</a:t>
            </a:r>
          </a:p>
          <a:p>
            <a:pPr algn="l">
              <a:lnSpc>
                <a:spcPts val="1150"/>
              </a:lnSpc>
              <a:spcAft>
                <a:spcPts val="400"/>
              </a:spcAft>
              <a:defRPr sz="1000" b="0">
                <a:solidFill>
                  <a:srgbClr val="333333"/>
                </a:solidFill>
                <a:latin typeface="Calibri"/>
              </a:defRPr>
            </a:pPr>
            <a:r>
              <a:t>[2]  NASA POWER - Worldwide Energy Resources,</a:t>
            </a:r>
            <a:br/>
            <a:r>
              <a:t>      NASA Langley Research Center</a:t>
            </a:r>
          </a:p>
          <a:p>
            <a:pPr algn="l">
              <a:lnSpc>
                <a:spcPts val="1150"/>
              </a:lnSpc>
              <a:spcAft>
                <a:spcPts val="400"/>
              </a:spcAft>
              <a:defRPr sz="1000" b="0">
                <a:solidFill>
                  <a:srgbClr val="333333"/>
                </a:solidFill>
                <a:latin typeface="Calibri"/>
              </a:defRPr>
            </a:pPr>
            <a:r>
              <a:t>[3]  Open-Meteo - Free Weather Forecast API</a:t>
            </a:r>
          </a:p>
          <a:p>
            <a:pPr algn="l">
              <a:lnSpc>
                <a:spcPts val="1150"/>
              </a:lnSpc>
              <a:spcAft>
                <a:spcPts val="400"/>
              </a:spcAft>
              <a:defRPr sz="1000" b="0">
                <a:solidFill>
                  <a:srgbClr val="333333"/>
                </a:solidFill>
                <a:latin typeface="Calibri"/>
              </a:defRPr>
            </a:pPr>
            <a:r>
              <a:t>[4]  Kaggle - India Agri Commodity Prices Archive</a:t>
            </a:r>
          </a:p>
          <a:p>
            <a:pPr algn="l">
              <a:lnSpc>
                <a:spcPts val="1150"/>
              </a:lnSpc>
              <a:spcAft>
                <a:spcPts val="400"/>
              </a:spcAft>
              <a:defRPr sz="1000" b="0">
                <a:solidFill>
                  <a:srgbClr val="333333"/>
                </a:solidFill>
                <a:latin typeface="Calibri"/>
              </a:defRPr>
            </a:pPr>
            <a:r>
              <a:t>[5]  G. Ke et al., "LightGBM: Highly Efficient GBDT",</a:t>
            </a:r>
            <a:br/>
            <a:r>
              <a:t>      NeurIPS 2017</a:t>
            </a:r>
          </a:p>
          <a:p>
            <a:pPr algn="l">
              <a:lnSpc>
                <a:spcPts val="1150"/>
              </a:lnSpc>
              <a:spcAft>
                <a:spcPts val="400"/>
              </a:spcAft>
              <a:defRPr sz="1000" b="0">
                <a:solidFill>
                  <a:srgbClr val="333333"/>
                </a:solidFill>
                <a:latin typeface="Calibri"/>
              </a:defRPr>
            </a:pPr>
            <a:r>
              <a:t>[6]  Patel et al., "MT-CYP-Net: Multi-Task Crop</a:t>
            </a:r>
            <a:br/>
            <a:r>
              <a:t>      Yield Prediction", arXiv:2505.12069, 2025</a:t>
            </a:r>
          </a:p>
          <a:p>
            <a:pPr algn="l">
              <a:lnSpc>
                <a:spcPts val="1150"/>
              </a:lnSpc>
              <a:spcAft>
                <a:spcPts val="400"/>
              </a:spcAft>
              <a:defRPr sz="1000" b="0">
                <a:solidFill>
                  <a:srgbClr val="333333"/>
                </a:solidFill>
                <a:latin typeface="Calibri"/>
              </a:defRPr>
            </a:pPr>
            <a:r>
              <a:t>[7]  Kumar et al., "NeuralCrop: Physics + ML for</a:t>
            </a:r>
            <a:br/>
            <a:r>
              <a:t>      Crop Yield", arXiv:2512.20177, 2025</a:t>
            </a:r>
          </a:p>
          <a:p>
            <a:pPr algn="l">
              <a:lnSpc>
                <a:spcPts val="1150"/>
              </a:lnSpc>
              <a:spcAft>
                <a:spcPts val="400"/>
              </a:spcAft>
              <a:defRPr sz="1000" b="0">
                <a:solidFill>
                  <a:srgbClr val="333333"/>
                </a:solidFill>
                <a:latin typeface="Calibri"/>
              </a:defRPr>
            </a:pPr>
            <a:r>
              <a:t>[8]  Romano et al., "Conformalized Quantile</a:t>
            </a:r>
            <a:br/>
            <a:r>
              <a:t>      Regression", NeurIPS 2019</a:t>
            </a:r>
          </a:p>
          <a:p>
            <a:pPr algn="l">
              <a:lnSpc>
                <a:spcPts val="1150"/>
              </a:lnSpc>
              <a:spcAft>
                <a:spcPts val="400"/>
              </a:spcAft>
              <a:defRPr sz="1000" b="0">
                <a:solidFill>
                  <a:srgbClr val="333333"/>
                </a:solidFill>
                <a:latin typeface="Calibri"/>
              </a:defRPr>
            </a:pPr>
            <a:r>
              <a:t>[9]  Hollmann et al., "TabPFN: Transformer for</a:t>
            </a:r>
            <a:br/>
            <a:r>
              <a:t>      Tabular Data", NeurIPS 2022</a:t>
            </a:r>
          </a:p>
          <a:p>
            <a:pPr algn="l">
              <a:lnSpc>
                <a:spcPts val="1150"/>
              </a:lnSpc>
              <a:spcAft>
                <a:spcPts val="400"/>
              </a:spcAft>
              <a:defRPr sz="1000" b="0">
                <a:solidFill>
                  <a:srgbClr val="333333"/>
                </a:solidFill>
                <a:latin typeface="Calibri"/>
              </a:defRPr>
            </a:pPr>
            <a:r>
              <a:t>[10] Weber et al., "Sub-Field Crop Yield Prediction</a:t>
            </a:r>
            <a:br/>
            <a:r>
              <a:t>       Explainability", ICML 2024</a:t>
            </a:r>
          </a:p>
        </p:txBody>
      </p:sp>
      <p:sp>
        <p:nvSpPr>
          <p:cNvPr id="9" name="TextBox 8"/>
          <p:cNvSpPr txBox="1"/>
          <p:nvPr/>
        </p:nvSpPr>
        <p:spPr>
          <a:xfrm>
            <a:off x="6217920" y="1097280"/>
            <a:ext cx="5669280" cy="5486400"/>
          </a:xfrm>
          <a:prstGeom prst="rect">
            <a:avLst/>
          </a:prstGeom>
          <a:noFill/>
        </p:spPr>
        <p:txBody>
          <a:bodyPr wrap="square">
            <a:spAutoFit/>
          </a:bodyPr>
          <a:lstStyle/>
          <a:p>
            <a:pPr algn="l">
              <a:lnSpc>
                <a:spcPts val="1150"/>
              </a:lnSpc>
              <a:spcAft>
                <a:spcPts val="400"/>
              </a:spcAft>
              <a:defRPr sz="1000" b="0">
                <a:solidFill>
                  <a:srgbClr val="333333"/>
                </a:solidFill>
                <a:latin typeface="Calibri"/>
              </a:defRPr>
            </a:pPr>
            <a:r>
              <a:t>[11] Supabase - Open Source Firebase Alternative</a:t>
            </a:r>
            <a:br/>
            <a:r>
              <a:t>       https://supabase.com/</a:t>
            </a:r>
          </a:p>
          <a:p>
            <a:pPr algn="l">
              <a:lnSpc>
                <a:spcPts val="1150"/>
              </a:lnSpc>
              <a:spcAft>
                <a:spcPts val="400"/>
              </a:spcAft>
              <a:defRPr sz="1000" b="0">
                <a:solidFill>
                  <a:srgbClr val="333333"/>
                </a:solidFill>
                <a:latin typeface="Calibri"/>
              </a:defRPr>
            </a:pPr>
            <a:r>
              <a:t>[12] Next.js 14 - React Framework for Production</a:t>
            </a:r>
            <a:br/>
            <a:r>
              <a:t>       https://nextjs.org/</a:t>
            </a:r>
          </a:p>
          <a:p>
            <a:pPr algn="l">
              <a:lnSpc>
                <a:spcPts val="1150"/>
              </a:lnSpc>
              <a:spcAft>
                <a:spcPts val="400"/>
              </a:spcAft>
              <a:defRPr sz="1000" b="0">
                <a:solidFill>
                  <a:srgbClr val="333333"/>
                </a:solidFill>
                <a:latin typeface="Calibri"/>
              </a:defRPr>
            </a:pPr>
            <a:r>
              <a:t>[13] FastAPI - Modern Python Web Framework</a:t>
            </a:r>
            <a:br/>
            <a:r>
              <a:t>       https://fastapi.tiangolo.com/</a:t>
            </a:r>
          </a:p>
          <a:p>
            <a:pPr algn="l">
              <a:lnSpc>
                <a:spcPts val="1150"/>
              </a:lnSpc>
              <a:spcAft>
                <a:spcPts val="400"/>
              </a:spcAft>
              <a:defRPr sz="1000" b="0">
                <a:solidFill>
                  <a:srgbClr val="333333"/>
                </a:solidFill>
                <a:latin typeface="Calibri"/>
              </a:defRPr>
            </a:pPr>
            <a:r>
              <a:t>[14] Tailwind CSS - Utility-First CSS Framework</a:t>
            </a:r>
            <a:br/>
            <a:r>
              <a:t>       https://tailwindcss.com/</a:t>
            </a:r>
          </a:p>
          <a:p>
            <a:pPr algn="l">
              <a:lnSpc>
                <a:spcPts val="1150"/>
              </a:lnSpc>
              <a:spcAft>
                <a:spcPts val="400"/>
              </a:spcAft>
              <a:defRPr sz="1000" b="0">
                <a:solidFill>
                  <a:srgbClr val="333333"/>
                </a:solidFill>
                <a:latin typeface="Calibri"/>
              </a:defRPr>
            </a:pPr>
            <a:r>
              <a:t>[15] DuckDB - In-Process OLAP Database</a:t>
            </a:r>
            <a:br/>
            <a:r>
              <a:t>       https://duckdb.org/</a:t>
            </a:r>
          </a:p>
          <a:p>
            <a:pPr algn="l">
              <a:lnSpc>
                <a:spcPts val="1150"/>
              </a:lnSpc>
              <a:spcAft>
                <a:spcPts val="400"/>
              </a:spcAft>
              <a:defRPr sz="1000" b="0">
                <a:solidFill>
                  <a:srgbClr val="333333"/>
                </a:solidFill>
                <a:latin typeface="Calibri"/>
              </a:defRPr>
            </a:pPr>
            <a:r>
              <a:t>[16] Framer Motion - React Animation Library</a:t>
            </a:r>
            <a:br/>
            <a:r>
              <a:t>       https://www.framer.com/motion/</a:t>
            </a:r>
          </a:p>
          <a:p>
            <a:pPr algn="l">
              <a:lnSpc>
                <a:spcPts val="1150"/>
              </a:lnSpc>
              <a:spcAft>
                <a:spcPts val="400"/>
              </a:spcAft>
              <a:defRPr sz="1000" b="0">
                <a:solidFill>
                  <a:srgbClr val="333333"/>
                </a:solidFill>
                <a:latin typeface="Calibri"/>
              </a:defRPr>
            </a:pPr>
            <a:r>
              <a:t>[17] MSAMB - MH State Agricultural Marketing</a:t>
            </a:r>
            <a:br/>
            <a:r>
              <a:t>       Board, https://www.msamb.com/</a:t>
            </a:r>
          </a:p>
          <a:p>
            <a:pPr algn="l">
              <a:lnSpc>
                <a:spcPts val="1150"/>
              </a:lnSpc>
              <a:spcAft>
                <a:spcPts val="400"/>
              </a:spcAft>
              <a:defRPr sz="1000" b="0">
                <a:solidFill>
                  <a:srgbClr val="333333"/>
                </a:solidFill>
                <a:latin typeface="Calibri"/>
              </a:defRPr>
            </a:pPr>
            <a:r>
              <a:t>[18] e-NAM - National Agriculture Market</a:t>
            </a:r>
            <a:br/>
            <a:r>
              <a:t>       https://www.enam.gov.in/</a:t>
            </a:r>
          </a:p>
          <a:p>
            <a:pPr algn="l">
              <a:lnSpc>
                <a:spcPts val="1150"/>
              </a:lnSpc>
              <a:spcAft>
                <a:spcPts val="400"/>
              </a:spcAft>
              <a:defRPr sz="1000" b="0">
                <a:solidFill>
                  <a:srgbClr val="333333"/>
                </a:solidFill>
                <a:latin typeface="Calibri"/>
              </a:defRPr>
            </a:pPr>
            <a:r>
              <a:t>[19] 20th Livestock Census, GoI, 2019</a:t>
            </a:r>
          </a:p>
          <a:p>
            <a:pPr algn="l">
              <a:lnSpc>
                <a:spcPts val="1150"/>
              </a:lnSpc>
              <a:spcAft>
                <a:spcPts val="400"/>
              </a:spcAft>
              <a:defRPr sz="1000" b="0">
                <a:solidFill>
                  <a:srgbClr val="333333"/>
                </a:solidFill>
                <a:latin typeface="Calibri"/>
              </a:defRPr>
            </a:pPr>
            <a:r>
              <a:t>[20] Sharma et al., "Intrinsic Explainability",</a:t>
            </a:r>
            <a:br/>
            <a:r>
              <a:t>       arXiv:2508.06939, 2025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5E2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1695"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62895" cy="914400"/>
          </a:xfrm>
          <a:prstGeom prst="rect">
            <a:avLst/>
          </a:prstGeom>
          <a:noFill/>
        </p:spPr>
        <p:txBody>
          <a:bodyPr wrap="none">
            <a:spAutoFit/>
          </a:bodyPr>
          <a:lstStyle/>
          <a:p>
            <a:pPr algn="ctr">
              <a:defRPr sz="4800" b="1">
                <a:solidFill>
                  <a:srgbClr val="FFFFFF"/>
                </a:solidFill>
              </a:defRPr>
            </a:pPr>
            <a:r>
              <a:t>Thank You!</a:t>
            </a:r>
          </a:p>
        </p:txBody>
      </p:sp>
      <p:sp>
        <p:nvSpPr>
          <p:cNvPr id="5" name="TextBox 4"/>
          <p:cNvSpPr txBox="1"/>
          <p:nvPr/>
        </p:nvSpPr>
        <p:spPr>
          <a:xfrm>
            <a:off x="914400" y="2377440"/>
            <a:ext cx="10362895" cy="457200"/>
          </a:xfrm>
          <a:prstGeom prst="rect">
            <a:avLst/>
          </a:prstGeom>
          <a:noFill/>
        </p:spPr>
        <p:txBody>
          <a:bodyPr wrap="square">
            <a:spAutoFit/>
          </a:bodyPr>
          <a:lstStyle/>
          <a:p>
            <a:pPr algn="ctr">
              <a:defRPr sz="2400" b="0" i="0">
                <a:solidFill>
                  <a:srgbClr val="A5D6A7"/>
                </a:solidFill>
                <a:latin typeface="Calibri"/>
              </a:defRPr>
            </a:pPr>
            <a:r>
              <a:t>Questions &amp; Discussion</a:t>
            </a:r>
          </a:p>
        </p:txBody>
      </p:sp>
      <p:sp>
        <p:nvSpPr>
          <p:cNvPr id="6" name="Rectangle 5"/>
          <p:cNvSpPr/>
          <p:nvPr/>
        </p:nvSpPr>
        <p:spPr>
          <a:xfrm>
            <a:off x="4114800" y="3017520"/>
            <a:ext cx="3962095" cy="2743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3291840"/>
            <a:ext cx="10362895" cy="457200"/>
          </a:xfrm>
          <a:prstGeom prst="rect">
            <a:avLst/>
          </a:prstGeom>
          <a:noFill/>
        </p:spPr>
        <p:txBody>
          <a:bodyPr wrap="square">
            <a:spAutoFit/>
          </a:bodyPr>
          <a:lstStyle/>
          <a:p>
            <a:pPr algn="ctr">
              <a:defRPr sz="2200" b="1" i="0">
                <a:solidFill>
                  <a:srgbClr val="FFFFFF"/>
                </a:solidFill>
                <a:latin typeface="Calibri"/>
              </a:defRPr>
            </a:pPr>
            <a:r>
              <a:t>MANDIMITRA</a:t>
            </a:r>
          </a:p>
        </p:txBody>
      </p:sp>
      <p:sp>
        <p:nvSpPr>
          <p:cNvPr id="8" name="TextBox 7"/>
          <p:cNvSpPr txBox="1"/>
          <p:nvPr/>
        </p:nvSpPr>
        <p:spPr>
          <a:xfrm>
            <a:off x="914400" y="3749039"/>
            <a:ext cx="10362895" cy="307777"/>
          </a:xfrm>
          <a:prstGeom prst="rect">
            <a:avLst/>
          </a:prstGeom>
          <a:noFill/>
        </p:spPr>
        <p:txBody>
          <a:bodyPr wrap="square">
            <a:spAutoFit/>
          </a:bodyPr>
          <a:lstStyle/>
          <a:p>
            <a:pPr algn="ctr">
              <a:defRPr sz="1300" b="0" i="0">
                <a:solidFill>
                  <a:srgbClr val="A5D6A7"/>
                </a:solidFill>
                <a:latin typeface="Calibri"/>
              </a:defRPr>
            </a:pPr>
            <a:r>
              <a:rPr sz="1400" b="1" dirty="0">
                <a:solidFill>
                  <a:schemeClr val="bg2">
                    <a:lumMod val="10000"/>
                  </a:schemeClr>
                </a:solidFill>
              </a:rPr>
              <a:t>Maharashtra Agricultural Market Intelligence &amp; Veterinary Services Platform</a:t>
            </a:r>
          </a:p>
        </p:txBody>
      </p:sp>
      <p:sp>
        <p:nvSpPr>
          <p:cNvPr id="9" name="TextBox 8"/>
          <p:cNvSpPr txBox="1"/>
          <p:nvPr/>
        </p:nvSpPr>
        <p:spPr>
          <a:xfrm>
            <a:off x="914400" y="4572000"/>
            <a:ext cx="10362895" cy="307777"/>
          </a:xfrm>
          <a:prstGeom prst="rect">
            <a:avLst/>
          </a:prstGeom>
          <a:noFill/>
        </p:spPr>
        <p:txBody>
          <a:bodyPr wrap="square">
            <a:spAutoFit/>
          </a:bodyPr>
          <a:lstStyle/>
          <a:p>
            <a:pPr algn="ctr">
              <a:defRPr sz="1200" b="0" i="0">
                <a:solidFill>
                  <a:srgbClr val="A5D6A7"/>
                </a:solidFill>
                <a:latin typeface="Calibri"/>
              </a:defRPr>
            </a:pPr>
            <a:r>
              <a:rPr sz="1400" b="1" dirty="0">
                <a:solidFill>
                  <a:schemeClr val="bg2">
                    <a:lumMod val="10000"/>
                  </a:schemeClr>
                </a:solidFill>
              </a:rPr>
              <a:t>Avishkar Borate (01) | Amol Salunke (02) | </a:t>
            </a:r>
            <a:r>
              <a:rPr sz="1400" b="1" dirty="0" err="1">
                <a:solidFill>
                  <a:schemeClr val="bg2">
                    <a:lumMod val="10000"/>
                  </a:schemeClr>
                </a:solidFill>
              </a:rPr>
              <a:t>Pruthviraj</a:t>
            </a:r>
            <a:r>
              <a:rPr sz="1400" b="1" dirty="0">
                <a:solidFill>
                  <a:schemeClr val="bg2">
                    <a:lumMod val="10000"/>
                  </a:schemeClr>
                </a:solidFill>
              </a:rPr>
              <a:t> </a:t>
            </a:r>
            <a:r>
              <a:rPr sz="1400" b="1" dirty="0" err="1">
                <a:solidFill>
                  <a:schemeClr val="bg2">
                    <a:lumMod val="10000"/>
                  </a:schemeClr>
                </a:solidFill>
              </a:rPr>
              <a:t>Hippirkar</a:t>
            </a:r>
            <a:r>
              <a:rPr sz="1400" b="1" dirty="0">
                <a:solidFill>
                  <a:schemeClr val="bg2">
                    <a:lumMod val="10000"/>
                  </a:schemeClr>
                </a:solidFill>
              </a:rPr>
              <a:t> (03) | Krushna Mane (04)</a:t>
            </a:r>
          </a:p>
        </p:txBody>
      </p:sp>
      <p:sp>
        <p:nvSpPr>
          <p:cNvPr id="10" name="TextBox 9"/>
          <p:cNvSpPr txBox="1"/>
          <p:nvPr/>
        </p:nvSpPr>
        <p:spPr>
          <a:xfrm>
            <a:off x="914400" y="5029200"/>
            <a:ext cx="10362895" cy="276999"/>
          </a:xfrm>
          <a:prstGeom prst="rect">
            <a:avLst/>
          </a:prstGeom>
          <a:noFill/>
        </p:spPr>
        <p:txBody>
          <a:bodyPr wrap="square">
            <a:spAutoFit/>
          </a:bodyPr>
          <a:lstStyle/>
          <a:p>
            <a:pPr algn="ctr">
              <a:defRPr sz="1100" b="0" i="0">
                <a:solidFill>
                  <a:srgbClr val="81C784"/>
                </a:solidFill>
                <a:latin typeface="Calibri"/>
              </a:defRPr>
            </a:pPr>
            <a:r>
              <a:rPr sz="1200" b="1" dirty="0">
                <a:solidFill>
                  <a:schemeClr val="bg2">
                    <a:lumMod val="10000"/>
                  </a:schemeClr>
                </a:solidFill>
              </a:rPr>
              <a:t>Guide: Prof. Mayur Gund  |  K.E. Society's </a:t>
            </a:r>
            <a:r>
              <a:rPr sz="1200" b="1" dirty="0" err="1">
                <a:solidFill>
                  <a:schemeClr val="bg2">
                    <a:lumMod val="10000"/>
                  </a:schemeClr>
                </a:solidFill>
              </a:rPr>
              <a:t>Rajarambapu</a:t>
            </a:r>
            <a:r>
              <a:rPr sz="1200" b="1" dirty="0">
                <a:solidFill>
                  <a:schemeClr val="bg2">
                    <a:lumMod val="10000"/>
                  </a:schemeClr>
                </a:solidFill>
              </a:rPr>
              <a:t> Institute of Technology (Polytechnic)</a:t>
            </a:r>
          </a:p>
        </p:txBody>
      </p:sp>
      <p:sp>
        <p:nvSpPr>
          <p:cNvPr id="11" name="TextBox 10"/>
          <p:cNvSpPr txBox="1"/>
          <p:nvPr/>
        </p:nvSpPr>
        <p:spPr>
          <a:xfrm>
            <a:off x="914400" y="5760720"/>
            <a:ext cx="10362895" cy="253916"/>
          </a:xfrm>
          <a:prstGeom prst="rect">
            <a:avLst/>
          </a:prstGeom>
          <a:noFill/>
        </p:spPr>
        <p:txBody>
          <a:bodyPr wrap="square">
            <a:spAutoFit/>
          </a:bodyPr>
          <a:lstStyle/>
          <a:p>
            <a:pPr algn="ctr">
              <a:defRPr sz="1000" b="0" i="0">
                <a:solidFill>
                  <a:srgbClr val="66BB6A"/>
                </a:solidFill>
                <a:latin typeface="Calibri"/>
              </a:defRPr>
            </a:pPr>
            <a:r>
              <a:rPr sz="1050" b="1" dirty="0">
                <a:solidFill>
                  <a:schemeClr val="bg2">
                    <a:lumMod val="10000"/>
                  </a:schemeClr>
                </a:solidFill>
              </a:rPr>
              <a:t>Department of Artificial Intelligence and Machine Learning  |  Academic Year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3216</Words>
  <Application>Microsoft Office PowerPoint</Application>
  <PresentationFormat>Widescreen</PresentationFormat>
  <Paragraphs>276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amar dighe</dc:creator>
  <cp:keywords/>
  <dc:description>generated using python-pptx</dc:description>
  <cp:lastModifiedBy>amar dighe</cp:lastModifiedBy>
  <cp:revision>2</cp:revision>
  <dcterms:created xsi:type="dcterms:W3CDTF">2013-01-27T09:14:16Z</dcterms:created>
  <dcterms:modified xsi:type="dcterms:W3CDTF">2026-02-18T13:23:39Z</dcterms:modified>
  <cp:category/>
</cp:coreProperties>
</file>